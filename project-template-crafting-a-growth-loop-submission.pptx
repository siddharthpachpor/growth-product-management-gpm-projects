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81" r:id="rId21"/>
    <p:sldId id="277" r:id="rId22"/>
    <p:sldId id="279" r:id="rId23"/>
    <p:sldId id="280" r:id="rId24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Open Sans Light" panose="020B0306030504020204" pitchFamily="34" charset="0"/>
      <p:regular r:id="rId30"/>
      <p: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BE6B9B-D142-4D32-ABCD-EE970F495A85}">
  <a:tblStyle styleId="{B4BE6B9B-D142-4D32-ABCD-EE970F495A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71814"/>
  </p:normalViewPr>
  <p:slideViewPr>
    <p:cSldViewPr snapToGrid="0">
      <p:cViewPr varScale="1">
        <p:scale>
          <a:sx n="118" d="100"/>
          <a:sy n="118" d="100"/>
        </p:scale>
        <p:origin x="1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0de93719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0de937195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7cd5f65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7cd5f65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9e29a079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9e29a079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7b237f784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7b237f784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7b237f784e_0_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7b237f784e_0_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b237f784e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7b237f784e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7b237f784e_0_7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7b237f784e_0_7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d9e29a079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d9e29a079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7b279a0a2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7b279a0a2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dc53437025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dc53437025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dce4a89c4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dce4a89c4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b237f784e_0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7b237f784e_0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7b3804fe4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7b3804fe4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b237f784e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b237f784e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7b279a0a2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7b279a0a2a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7b3804fe4f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7b3804fe4f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7b279a0a2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7b279a0a2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d9e29a079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d9e29a079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7b237f784e_0_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7b237f784e_0_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Project Instructions</a:t>
            </a: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 </a:t>
            </a: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AutoNum type="arabicParenR"/>
            </a:pP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Analyze the potential growth risks based on the common bottlenecks in each category (retention, saturation, single product/market) </a:t>
            </a: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AutoNum type="alphaUcPeriod"/>
            </a:pP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Assess the Craft Snacks growth loop you created against these three major risk categories and explain how Craft Snacks might be susceptible to the risk. </a:t>
            </a: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AutoNum type="alphaUcPeriod"/>
            </a:pP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Consider these questions for each category</a:t>
            </a: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AutoNum type="alphaLcPeriod"/>
            </a:pP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Customer Retention: (This category is done for you as an example of what the problem and solution statements might look like). </a:t>
            </a: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AutoNum type="romanLcPeriod"/>
            </a:pP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Problem: How might customer retention cause harm to the growth loop you create?</a:t>
            </a: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AutoNum type="romanLcPeriod"/>
            </a:pP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Solution: What does this problem imply we need to do? What we might need to do prevent this risk?  </a:t>
            </a: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AutoNum type="alphaLcPeriod"/>
            </a:pP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Market Saturation</a:t>
            </a: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AutoNum type="romanLcPeriod"/>
            </a:pP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Problem: How might market saturation create risk for the growth loop you created?</a:t>
            </a: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AutoNum type="romanLcPeriod"/>
            </a:pP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Solution: What does this problem imply we need to do? What we might need to do prevent this risk?  </a:t>
            </a: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AutoNum type="alphaLcPeriod"/>
            </a:pP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Single Product and Market: </a:t>
            </a: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AutoNum type="romanLcPeriod"/>
            </a:pP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Problem: How does the current product and target market create business risk in growth?</a:t>
            </a: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AutoNum type="romanLcPeriod"/>
            </a:pPr>
            <a:r>
              <a:rPr lang="en" sz="1400" i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Solution: What does this problem imply we need to do? What we might need to do prevent this risk?  </a:t>
            </a:r>
            <a:endParaRPr sz="1400" b="1" i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0879CBB6-437D-DC98-D015-DAA0C3CDF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7b237f784e_0_833:notes">
            <a:extLst>
              <a:ext uri="{FF2B5EF4-FFF2-40B4-BE49-F238E27FC236}">
                <a16:creationId xmlns:a16="http://schemas.microsoft.com/office/drawing/2014/main" id="{DD11946E-4C4E-A76C-00C4-185439DDB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7b237f784e_0_833:notes">
            <a:extLst>
              <a:ext uri="{FF2B5EF4-FFF2-40B4-BE49-F238E27FC236}">
                <a16:creationId xmlns:a16="http://schemas.microsoft.com/office/drawing/2014/main" id="{4BA4A7BD-FAB4-99B9-A805-EE2D0ACB23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9210208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7b279a0a2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7b279a0a2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dc53437025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dc53437025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d9e29a079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d9e29a079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marL="914400" lvl="1" indent="-381000" rtl="0"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429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67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" name="Google Shape;3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596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1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ldNum" idx="12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Box (large)">
  <p:cSld name="ONE_COLUMN_TEX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1"/>
          </p:nvPr>
        </p:nvSpPr>
        <p:spPr>
          <a:xfrm>
            <a:off x="605400" y="1787750"/>
            <a:ext cx="7867200" cy="28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900"/>
              <a:buFont typeface="Open Sans"/>
              <a:buChar char="●"/>
              <a:defRPr sz="19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2"/>
          </p:nvPr>
        </p:nvSpPr>
        <p:spPr>
          <a:xfrm>
            <a:off x="605400" y="1180500"/>
            <a:ext cx="79335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700"/>
              <a:buFont typeface="Open Sans"/>
              <a:buNone/>
              <a:defRPr sz="27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ard">
  <p:cSld name="TITLE_AND_TWO_COLUMNS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2086350" y="2198475"/>
            <a:ext cx="4886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subTitle" idx="1"/>
          </p:nvPr>
        </p:nvSpPr>
        <p:spPr>
          <a:xfrm>
            <a:off x="2086350" y="2834125"/>
            <a:ext cx="48867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or icons (with text)">
  <p:cSld name="BLANK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4876950" y="1337500"/>
            <a:ext cx="3661500" cy="3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4000"/>
              <a:buFont typeface="Open Sans"/>
              <a:buNone/>
              <a:defRPr sz="40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 Light"/>
              <a:buChar char="●"/>
              <a:defRPr sz="18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○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■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●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○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■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●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○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 Light"/>
              <a:buChar char="■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-12" y="493175"/>
            <a:ext cx="38100" cy="476400"/>
          </a:xfrm>
          <a:prstGeom prst="rect">
            <a:avLst/>
          </a:prstGeom>
          <a:solidFill>
            <a:srgbClr val="02B4E5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slide" Target="slide18.xml"/><Relationship Id="rId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Crafting a Growth Loop </a:t>
            </a:r>
            <a:endParaRPr sz="3400" b="0"/>
          </a:p>
        </p:txBody>
      </p:sp>
      <p:sp>
        <p:nvSpPr>
          <p:cNvPr id="61" name="Google Shape;6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Craft Snacks: User Acquisition and Growth Plan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Created by Siddharth Pachpor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MBA Frankfurt Business School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M.Sc. TU Berlin </a:t>
            </a:r>
            <a:r>
              <a:rPr lang="en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Overview</a:t>
            </a:r>
            <a:endParaRPr sz="3400"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4294967295"/>
          </p:nvPr>
        </p:nvSpPr>
        <p:spPr>
          <a:xfrm>
            <a:off x="1641025" y="1071650"/>
            <a:ext cx="3661500" cy="3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u="sng">
                <a:solidFill>
                  <a:schemeClr val="hlink"/>
                </a:solidFill>
                <a:hlinkClick r:id="" action="ppaction://hlinkshowjump?jump=nextslide"/>
              </a:rPr>
              <a:t>Inspecting the Landscape</a:t>
            </a:r>
            <a:endParaRPr sz="1200" b="1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Business Goal and Product Strategy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Growth Components and Metrics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Target Personas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u="sng">
                <a:solidFill>
                  <a:schemeClr val="hlink"/>
                </a:solidFill>
                <a:hlinkClick r:id="rId3" action="ppaction://hlinksldjump"/>
              </a:rPr>
              <a:t>Mapping</a:t>
            </a:r>
            <a:r>
              <a:rPr lang="en" sz="1200" b="1" u="sng">
                <a:solidFill>
                  <a:schemeClr val="hlink"/>
                </a:solidFill>
                <a:hlinkClick r:id="rId3" action="ppaction://hlinksldjump"/>
              </a:rPr>
              <a:t> Out </a:t>
            </a:r>
            <a:r>
              <a:rPr lang="en" sz="1200" b="1" u="sng">
                <a:solidFill>
                  <a:schemeClr val="hlink"/>
                </a:solidFill>
                <a:hlinkClick r:id="rId3" action="ppaction://hlinksldjump"/>
              </a:rPr>
              <a:t>the Path to Growth</a:t>
            </a:r>
            <a:r>
              <a:rPr lang="en" sz="1200" b="1"/>
              <a:t> </a:t>
            </a:r>
            <a:endParaRPr sz="1200" b="1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Growth Problem Framing 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The Growth Loop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Growth Hypotheses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u="sng">
                <a:solidFill>
                  <a:schemeClr val="hlink"/>
                </a:solidFill>
                <a:hlinkClick r:id="rId4" action="ppaction://hlinksldjump"/>
              </a:rPr>
              <a:t>Validating the Path to Growth 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A/B Testing Plan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Analysis and Next Steps  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u="sng">
                <a:solidFill>
                  <a:schemeClr val="hlink"/>
                </a:solidFill>
                <a:hlinkClick r:id="rId5" action="ppaction://hlinksldjump"/>
              </a:rPr>
              <a:t>Developing the </a:t>
            </a:r>
            <a:r>
              <a:rPr lang="en" sz="1200" b="1" u="sng">
                <a:solidFill>
                  <a:schemeClr val="hlink"/>
                </a:solidFill>
                <a:hlinkClick r:id="rId5" action="ppaction://hlinksldjump"/>
              </a:rPr>
              <a:t>Future </a:t>
            </a:r>
            <a:r>
              <a:rPr lang="en" sz="1200" b="1" u="sng">
                <a:solidFill>
                  <a:schemeClr val="hlink"/>
                </a:solidFill>
                <a:hlinkClick r:id="rId5" action="ppaction://hlinksldjump"/>
              </a:rPr>
              <a:t>Growth Vision</a:t>
            </a:r>
            <a:r>
              <a:rPr lang="en" sz="1200" b="1"/>
              <a:t> </a:t>
            </a:r>
            <a:endParaRPr sz="1200" b="1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Growth Risks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Product Market Expansion Opportunity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Growth Loop Expansion 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Inspecting the Landscape</a:t>
            </a:r>
            <a:endParaRPr sz="3400"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Business Goal &amp; Product Strategy</a:t>
            </a:r>
            <a:endParaRPr sz="3400"/>
          </a:p>
        </p:txBody>
      </p:sp>
      <p:sp>
        <p:nvSpPr>
          <p:cNvPr id="78" name="Google Shape;7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/>
              <a:t>Business Goal</a:t>
            </a:r>
            <a:endParaRPr sz="1300" b="1" dirty="0"/>
          </a:p>
          <a:p>
            <a:pPr marL="457200" lvl="0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Goal: </a:t>
            </a:r>
            <a:r>
              <a:rPr lang="en" sz="1100" i="1" dirty="0">
                <a:solidFill>
                  <a:srgbClr val="9E9E9E"/>
                </a:solidFill>
              </a:rPr>
              <a:t>To Increase t</a:t>
            </a:r>
            <a:r>
              <a:rPr lang="en-GB" sz="1100" i="1" dirty="0">
                <a:solidFill>
                  <a:srgbClr val="9E9E9E"/>
                </a:solidFill>
              </a:rPr>
              <a:t>he</a:t>
            </a:r>
            <a:r>
              <a:rPr lang="en" sz="1100" i="1" dirty="0">
                <a:solidFill>
                  <a:srgbClr val="9E9E9E"/>
                </a:solidFill>
              </a:rPr>
              <a:t> new user growth by 20% (subscribed) </a:t>
            </a:r>
            <a:endParaRPr sz="1300" i="1" dirty="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Objective: </a:t>
            </a:r>
            <a:r>
              <a:rPr lang="en" sz="1100" i="1" dirty="0">
                <a:solidFill>
                  <a:srgbClr val="9E9E9E"/>
                </a:solidFill>
              </a:rPr>
              <a:t>20% month to month growth for the next quarter</a:t>
            </a:r>
            <a:endParaRPr sz="1300" b="1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 b="1" dirty="0"/>
              <a:t>Product Strategy</a:t>
            </a:r>
            <a:endParaRPr sz="1300" b="1" dirty="0"/>
          </a:p>
          <a:p>
            <a:pPr marL="457200" lvl="0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Strategy: </a:t>
            </a:r>
            <a:r>
              <a:rPr lang="en" sz="1100" i="1" dirty="0">
                <a:solidFill>
                  <a:srgbClr val="9E9E9E"/>
                </a:solidFill>
              </a:rPr>
              <a:t>leverage t</a:t>
            </a:r>
            <a:r>
              <a:rPr lang="en-GB" sz="1100" i="1" dirty="0">
                <a:solidFill>
                  <a:srgbClr val="9E9E9E"/>
                </a:solidFill>
              </a:rPr>
              <a:t>he</a:t>
            </a:r>
            <a:r>
              <a:rPr lang="en" sz="1100" i="1" dirty="0">
                <a:solidFill>
                  <a:srgbClr val="9E9E9E"/>
                </a:solidFill>
              </a:rPr>
              <a:t> existing customers network</a:t>
            </a:r>
            <a:endParaRPr sz="1300" dirty="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Existing Customers</a:t>
            </a:r>
            <a:endParaRPr sz="1300" dirty="0"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100" i="1" dirty="0">
                <a:solidFill>
                  <a:srgbClr val="9E9E9E"/>
                </a:solidFill>
              </a:rPr>
              <a:t>I</a:t>
            </a:r>
            <a:r>
              <a:rPr lang="en" sz="1100" i="1" dirty="0">
                <a:solidFill>
                  <a:srgbClr val="9E9E9E"/>
                </a:solidFill>
              </a:rPr>
              <a:t>increased engaging of the existing customers with the product in a meaningful way</a:t>
            </a:r>
            <a:endParaRPr sz="1300" dirty="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Potential Customers</a:t>
            </a:r>
            <a:endParaRPr sz="1300" dirty="0"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100" i="1" dirty="0">
                <a:solidFill>
                  <a:srgbClr val="9E9E9E"/>
                </a:solidFill>
              </a:rPr>
              <a:t>More potential customers subscribe to the product</a:t>
            </a:r>
            <a:endParaRPr sz="1300" dirty="0"/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300" dirty="0"/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title" idx="4294967295"/>
          </p:nvPr>
        </p:nvSpPr>
        <p:spPr>
          <a:xfrm>
            <a:off x="573025" y="23120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Growth Components</a:t>
            </a:r>
            <a:endParaRPr sz="3400"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4294967295"/>
          </p:nvPr>
        </p:nvSpPr>
        <p:spPr>
          <a:xfrm>
            <a:off x="890900" y="1243238"/>
            <a:ext cx="69669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1"/>
              <a:t>Growth Components Along the User Journey</a:t>
            </a:r>
            <a:endParaRPr sz="1300" b="1"/>
          </a:p>
        </p:txBody>
      </p:sp>
      <p:graphicFrame>
        <p:nvGraphicFramePr>
          <p:cNvPr id="85" name="Google Shape;85;p21"/>
          <p:cNvGraphicFramePr/>
          <p:nvPr>
            <p:extLst>
              <p:ext uri="{D42A27DB-BD31-4B8C-83A1-F6EECF244321}">
                <p14:modId xmlns:p14="http://schemas.microsoft.com/office/powerpoint/2010/main" val="2221105686"/>
              </p:ext>
            </p:extLst>
          </p:nvPr>
        </p:nvGraphicFramePr>
        <p:xfrm>
          <a:off x="1077775" y="1632975"/>
          <a:ext cx="6966900" cy="2743080"/>
        </p:xfrm>
        <a:graphic>
          <a:graphicData uri="http://schemas.openxmlformats.org/drawingml/2006/table">
            <a:tbl>
              <a:tblPr>
                <a:noFill/>
                <a:tableStyleId>{B4BE6B9B-D142-4D32-ABCD-EE970F495A85}</a:tableStyleId>
              </a:tblPr>
              <a:tblGrid>
                <a:gridCol w="122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User Journey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Growth Components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Business Metrics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Acquisition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Online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ads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, Search Engine and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Social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Media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sharing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endParaRPr sz="1000" b="0" i="1" u="none" strike="noStrike" cap="none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Open San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GB" sz="1000" i="1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Open Sans"/>
                        </a:rPr>
                        <a:t>N</a:t>
                      </a:r>
                      <a:r>
                        <a:rPr lang="en" sz="1000" i="1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Open Sans"/>
                        </a:rPr>
                        <a:t>ew</a:t>
                      </a:r>
                      <a:r>
                        <a:rPr lang="en" sz="1000" i="1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Open Sans"/>
                        </a:rPr>
                        <a:t> visitor session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de-DE" sz="1000" i="1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Acquisiton</a:t>
                      </a:r>
                      <a:r>
                        <a:rPr lang="de-DE" sz="1000" i="1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000" i="1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channel</a:t>
                      </a:r>
                      <a:r>
                        <a:rPr lang="de-DE" sz="1000" i="1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000" i="1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distribution</a:t>
                      </a:r>
                      <a:endParaRPr sz="1000" i="1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Activation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Visitor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can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subscribe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for a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monthly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plan (15 $)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through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the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website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landing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page</a:t>
                      </a:r>
                      <a:endParaRPr sz="1000" b="0" i="1" u="none" strike="noStrike" cap="none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Open San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New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visitor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conversion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rate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New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monthly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Subscribed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users</a:t>
                      </a:r>
                      <a:endParaRPr sz="1000" b="0" i="1" u="none" strike="noStrike" cap="none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Open San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Retention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Manage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account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, manage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preferences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, track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order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, </a:t>
                      </a:r>
                      <a:r>
                        <a:rPr lang="de-DE" sz="1000" b="0" i="1" u="none" strike="noStrike" cap="none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share</a:t>
                      </a:r>
                      <a:r>
                        <a:rPr lang="de-DE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Arial"/>
                        </a:rPr>
                        <a:t> review</a:t>
                      </a:r>
                      <a:endParaRPr sz="1000" b="0" i="1" u="none" strike="noStrike" cap="none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Open San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Open Sans"/>
                        </a:rPr>
                        <a:t>Monthly Subscribed users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" sz="1000" b="0" i="1" u="none" strike="noStrike" cap="non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Open Sans"/>
                          <a:cs typeface="Arial" panose="020B0604020202020204" pitchFamily="34" charset="0"/>
                          <a:sym typeface="Open Sans"/>
                        </a:rPr>
                        <a:t>Monthly Active users</a:t>
                      </a:r>
                      <a:endParaRPr sz="1000" b="0" i="1" u="none" strike="noStrike" cap="none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Open San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Revenue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Monthly subscription model</a:t>
                      </a:r>
                      <a:endParaRPr sz="1100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N/A</a:t>
                      </a:r>
                      <a:endParaRPr sz="11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Referral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N/A -</a:t>
                      </a:r>
                      <a:r>
                        <a:rPr lang="en" sz="1100" i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" sz="1100" i="1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 formal referral program, informal word of mouth growth</a:t>
                      </a:r>
                      <a:endParaRPr sz="1100" i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N/A </a:t>
                      </a:r>
                      <a:endParaRPr sz="1100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Growth Metrics</a:t>
            </a:r>
            <a:endParaRPr sz="3400"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4294967295"/>
          </p:nvPr>
        </p:nvSpPr>
        <p:spPr>
          <a:xfrm>
            <a:off x="1048800" y="1142325"/>
            <a:ext cx="7060200" cy="32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Primary Metric</a:t>
            </a:r>
            <a:endParaRPr sz="1300" dirty="0"/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000" i="1" dirty="0">
                <a:solidFill>
                  <a:schemeClr val="accent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Arial"/>
              </a:rPr>
              <a:t>New Monthly subscribed user </a:t>
            </a:r>
            <a:endParaRPr sz="1000" i="1" dirty="0">
              <a:solidFill>
                <a:schemeClr val="accent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Secondary Metrics</a:t>
            </a:r>
            <a:endParaRPr sz="1300" dirty="0"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dirty="0"/>
              <a:t>Upstream</a:t>
            </a:r>
            <a:endParaRPr sz="1300" dirty="0"/>
          </a:p>
          <a:p>
            <a:pPr marL="1371600" lvl="2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000" i="1" dirty="0">
                <a:solidFill>
                  <a:schemeClr val="accent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New visitor session</a:t>
            </a:r>
            <a:endParaRPr sz="1000" i="1" dirty="0">
              <a:solidFill>
                <a:schemeClr val="accent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</a:endParaRPr>
          </a:p>
          <a:p>
            <a:pPr lvl="2" indent="-311150">
              <a:spcBef>
                <a:spcPts val="0"/>
              </a:spcBef>
              <a:buSzPts val="1300"/>
            </a:pPr>
            <a:r>
              <a:rPr lang="de-DE" sz="1000" i="1" dirty="0" err="1">
                <a:solidFill>
                  <a:schemeClr val="accent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Acquisiton</a:t>
            </a:r>
            <a:r>
              <a:rPr lang="de-DE" sz="1000" i="1" dirty="0">
                <a:solidFill>
                  <a:schemeClr val="accent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</a:t>
            </a:r>
            <a:r>
              <a:rPr lang="de-DE" sz="1000" i="1" dirty="0" err="1">
                <a:solidFill>
                  <a:schemeClr val="accent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channel</a:t>
            </a:r>
            <a:r>
              <a:rPr lang="de-DE" sz="1000" i="1" dirty="0">
                <a:solidFill>
                  <a:schemeClr val="accent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</a:t>
            </a:r>
            <a:r>
              <a:rPr lang="de-DE" sz="1000" i="1" dirty="0" err="1">
                <a:solidFill>
                  <a:schemeClr val="accent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distribution</a:t>
            </a:r>
            <a:endParaRPr sz="1000" i="1" dirty="0">
              <a:solidFill>
                <a:schemeClr val="accent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</a:endParaRPr>
          </a:p>
          <a:p>
            <a:pPr lvl="2" indent="-311150">
              <a:spcBef>
                <a:spcPts val="0"/>
              </a:spcBef>
              <a:buSzPts val="1300"/>
            </a:pPr>
            <a:r>
              <a:rPr lang="en" sz="1000" i="1" dirty="0">
                <a:solidFill>
                  <a:schemeClr val="accent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New visitor conversion rate</a:t>
            </a:r>
            <a:endParaRPr sz="1000" i="1" dirty="0">
              <a:solidFill>
                <a:schemeClr val="accent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dirty="0" err="1"/>
              <a:t>Dowstream</a:t>
            </a:r>
            <a:endParaRPr sz="1300" dirty="0"/>
          </a:p>
          <a:p>
            <a:pPr marL="1371600" lvl="2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000" i="1" dirty="0">
                <a:solidFill>
                  <a:schemeClr val="accent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Monthly subscribed users</a:t>
            </a:r>
            <a:endParaRPr sz="1000" i="1" dirty="0">
              <a:solidFill>
                <a:schemeClr val="accent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</a:endParaRPr>
          </a:p>
          <a:p>
            <a:pPr marL="1371600" lvl="2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000" i="1" dirty="0">
                <a:solidFill>
                  <a:schemeClr val="accent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Monthly active users</a:t>
            </a:r>
            <a:endParaRPr sz="1000" i="1" dirty="0">
              <a:solidFill>
                <a:schemeClr val="accent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Target Persona</a:t>
            </a:r>
            <a:endParaRPr sz="3400"/>
          </a:p>
        </p:txBody>
      </p:sp>
      <p:sp>
        <p:nvSpPr>
          <p:cNvPr id="97" name="Google Shape;97;p23"/>
          <p:cNvSpPr txBox="1">
            <a:spLocks noGrp="1"/>
          </p:cNvSpPr>
          <p:nvPr>
            <p:ph type="body" idx="4294967295"/>
          </p:nvPr>
        </p:nvSpPr>
        <p:spPr>
          <a:xfrm>
            <a:off x="1111250" y="1609024"/>
            <a:ext cx="3512950" cy="3337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Existing Customers</a:t>
            </a:r>
            <a:endParaRPr dirty="0"/>
          </a:p>
          <a:p>
            <a:pPr marL="457200" lvl="0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AutoNum type="alphaUcPeriod"/>
            </a:pPr>
            <a:r>
              <a:rPr lang="en" sz="1100" i="1" dirty="0" err="1">
                <a:solidFill>
                  <a:srgbClr val="9E9E9E"/>
                </a:solidFill>
              </a:rPr>
              <a:t>Motivation:excitement</a:t>
            </a:r>
            <a:r>
              <a:rPr lang="en" sz="1100" i="1" dirty="0">
                <a:solidFill>
                  <a:srgbClr val="9E9E9E"/>
                </a:solidFill>
              </a:rPr>
              <a:t> about getting a new </a:t>
            </a:r>
            <a:r>
              <a:rPr lang="en" sz="1100" i="1" dirty="0" err="1">
                <a:solidFill>
                  <a:srgbClr val="9E9E9E"/>
                </a:solidFill>
              </a:rPr>
              <a:t>exper</a:t>
            </a:r>
            <a:r>
              <a:rPr lang="en-GB" sz="1100" i="1" dirty="0" err="1">
                <a:solidFill>
                  <a:srgbClr val="9E9E9E"/>
                </a:solidFill>
              </a:rPr>
              <a:t>ie</a:t>
            </a:r>
            <a:r>
              <a:rPr lang="en" sz="1100" i="1" dirty="0" err="1">
                <a:solidFill>
                  <a:srgbClr val="9E9E9E"/>
                </a:solidFill>
              </a:rPr>
              <a:t>nce</a:t>
            </a:r>
            <a:endParaRPr sz="1100" i="1" dirty="0">
              <a:solidFill>
                <a:srgbClr val="9E9E9E"/>
              </a:solidFill>
            </a:endParaRPr>
          </a:p>
          <a:p>
            <a:pPr lvl="1" indent="-298450">
              <a:spcBef>
                <a:spcPts val="0"/>
              </a:spcBef>
              <a:buClr>
                <a:srgbClr val="9E9E9E"/>
              </a:buClr>
              <a:buSzPts val="1100"/>
              <a:buFont typeface="Open Sans Light"/>
              <a:buAutoNum type="alphaLcPeriod"/>
            </a:pPr>
            <a:r>
              <a:rPr lang="en-GB" sz="1100" i="1" dirty="0">
                <a:solidFill>
                  <a:srgbClr val="9E9E9E"/>
                </a:solidFill>
              </a:rPr>
              <a:t>“The majority of Craft Snacks customers are those who love new experiences. They often describe how they look forward to Craft Snacks and its “element of surprise.</a:t>
            </a:r>
            <a:endParaRPr sz="1100" i="1" dirty="0">
              <a:solidFill>
                <a:srgbClr val="9E9E9E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UcPeriod"/>
            </a:pPr>
            <a:r>
              <a:rPr lang="en" sz="1100" i="1" dirty="0">
                <a:solidFill>
                  <a:srgbClr val="9E9E9E"/>
                </a:solidFill>
              </a:rPr>
              <a:t> Sharing the excitement through Social media</a:t>
            </a:r>
            <a:endParaRPr sz="1100" i="1" dirty="0">
              <a:solidFill>
                <a:srgbClr val="9E9E9E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AutoNum type="alphaLcPeriod"/>
            </a:pPr>
            <a:r>
              <a:rPr lang="en" sz="1100" i="1" dirty="0">
                <a:solidFill>
                  <a:srgbClr val="9E9E9E"/>
                </a:solidFill>
              </a:rPr>
              <a:t>36% of the customers shared their excitement on the social media</a:t>
            </a:r>
            <a:endParaRPr sz="1100" i="1" dirty="0">
              <a:solidFill>
                <a:srgbClr val="9E9E9E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UcPeriod"/>
            </a:pPr>
            <a:r>
              <a:rPr lang="en" sz="1100" i="1" dirty="0">
                <a:solidFill>
                  <a:srgbClr val="9E9E9E"/>
                </a:solidFill>
              </a:rPr>
              <a:t>Desire to obtain the </a:t>
            </a:r>
            <a:r>
              <a:rPr lang="en" sz="1100" i="1" dirty="0" err="1">
                <a:solidFill>
                  <a:srgbClr val="9E9E9E"/>
                </a:solidFill>
              </a:rPr>
              <a:t>favourite</a:t>
            </a:r>
            <a:r>
              <a:rPr lang="en" sz="1100" i="1" dirty="0">
                <a:solidFill>
                  <a:srgbClr val="9E9E9E"/>
                </a:solidFill>
              </a:rPr>
              <a:t> snack again</a:t>
            </a:r>
            <a:endParaRPr sz="1100" i="1" dirty="0">
              <a:solidFill>
                <a:srgbClr val="9E9E9E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AutoNum type="alphaLcPeriod"/>
            </a:pPr>
            <a:r>
              <a:rPr lang="en" sz="1100" i="1" dirty="0">
                <a:solidFill>
                  <a:srgbClr val="9E9E9E"/>
                </a:solidFill>
              </a:rPr>
              <a:t>45% of customers are able to point </a:t>
            </a:r>
            <a:r>
              <a:rPr lang="en" sz="1100" i="1" dirty="0" err="1">
                <a:solidFill>
                  <a:srgbClr val="9E9E9E"/>
                </a:solidFill>
              </a:rPr>
              <a:t>toi</a:t>
            </a:r>
            <a:r>
              <a:rPr lang="en" sz="1100" i="1" dirty="0">
                <a:solidFill>
                  <a:srgbClr val="9E9E9E"/>
                </a:solidFill>
              </a:rPr>
              <a:t> a </a:t>
            </a:r>
            <a:r>
              <a:rPr lang="en" sz="1100" i="1" dirty="0" err="1">
                <a:solidFill>
                  <a:srgbClr val="9E9E9E"/>
                </a:solidFill>
              </a:rPr>
              <a:t>favourite</a:t>
            </a:r>
            <a:r>
              <a:rPr lang="en" sz="1100" i="1" dirty="0">
                <a:solidFill>
                  <a:srgbClr val="9E9E9E"/>
                </a:solidFill>
              </a:rPr>
              <a:t> snack and have taken some form of action to try to obtain it again</a:t>
            </a:r>
            <a:endParaRPr sz="1100" i="1" dirty="0">
              <a:solidFill>
                <a:srgbClr val="9E9E9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100" i="1" dirty="0">
              <a:solidFill>
                <a:srgbClr val="9E9E9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300" b="1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3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4294967295"/>
          </p:nvPr>
        </p:nvSpPr>
        <p:spPr>
          <a:xfrm>
            <a:off x="4680975" y="1609025"/>
            <a:ext cx="3399600" cy="25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 Potential New Customers</a:t>
            </a:r>
            <a:endParaRPr dirty="0"/>
          </a:p>
          <a:p>
            <a:pPr marL="457200" lvl="0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AutoNum type="alphaUcPeriod"/>
            </a:pPr>
            <a:r>
              <a:rPr lang="en" sz="1100" i="1" dirty="0">
                <a:solidFill>
                  <a:srgbClr val="9E9E9E"/>
                </a:solidFill>
              </a:rPr>
              <a:t>Motivated by information on t</a:t>
            </a:r>
            <a:r>
              <a:rPr lang="en-GB" sz="1100" i="1" dirty="0">
                <a:solidFill>
                  <a:srgbClr val="9E9E9E"/>
                </a:solidFill>
              </a:rPr>
              <a:t>he</a:t>
            </a:r>
            <a:r>
              <a:rPr lang="en" sz="1100" i="1" dirty="0">
                <a:solidFill>
                  <a:srgbClr val="9E9E9E"/>
                </a:solidFill>
              </a:rPr>
              <a:t> website</a:t>
            </a:r>
            <a:endParaRPr sz="1100" i="1" dirty="0">
              <a:solidFill>
                <a:srgbClr val="9E9E9E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AutoNum type="alphaLcPeriod"/>
            </a:pPr>
            <a:r>
              <a:rPr lang="en" sz="1100" i="1" dirty="0">
                <a:solidFill>
                  <a:srgbClr val="9E9E9E"/>
                </a:solidFill>
              </a:rPr>
              <a:t>”</a:t>
            </a:r>
            <a:r>
              <a:rPr lang="en-GB" sz="1100" i="1" dirty="0">
                <a:solidFill>
                  <a:srgbClr val="9E9E9E"/>
                </a:solidFill>
              </a:rPr>
              <a:t>I</a:t>
            </a:r>
            <a:r>
              <a:rPr lang="en" sz="1100" i="1" dirty="0">
                <a:solidFill>
                  <a:srgbClr val="9E9E9E"/>
                </a:solidFill>
              </a:rPr>
              <a:t> am interested in trying out new snacks.”</a:t>
            </a:r>
            <a:endParaRPr sz="1300" dirty="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UcPeriod"/>
            </a:pPr>
            <a:r>
              <a:rPr lang="en" sz="1100" i="1" dirty="0">
                <a:solidFill>
                  <a:srgbClr val="9E9E9E"/>
                </a:solidFill>
              </a:rPr>
              <a:t>Express uncertainty about the prod</a:t>
            </a:r>
            <a:r>
              <a:rPr lang="en-GB" sz="1100" i="1" dirty="0">
                <a:solidFill>
                  <a:srgbClr val="9E9E9E"/>
                </a:solidFill>
              </a:rPr>
              <a:t>uc</a:t>
            </a:r>
            <a:r>
              <a:rPr lang="en" sz="1100" i="1" dirty="0">
                <a:solidFill>
                  <a:srgbClr val="9E9E9E"/>
                </a:solidFill>
              </a:rPr>
              <a:t>t</a:t>
            </a:r>
            <a:endParaRPr sz="1100" i="1" dirty="0">
              <a:solidFill>
                <a:srgbClr val="9E9E9E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AutoNum type="alphaLcPeriod"/>
            </a:pPr>
            <a:r>
              <a:rPr lang="en" sz="1100" i="1" dirty="0">
                <a:solidFill>
                  <a:srgbClr val="9E9E9E"/>
                </a:solidFill>
              </a:rPr>
              <a:t>”what </a:t>
            </a:r>
            <a:r>
              <a:rPr lang="en-GB" sz="1100" i="1" dirty="0">
                <a:solidFill>
                  <a:srgbClr val="9E9E9E"/>
                </a:solidFill>
              </a:rPr>
              <a:t>if I don’t like majority of the snacks there?"</a:t>
            </a:r>
            <a:endParaRPr sz="1100" i="1" dirty="0">
              <a:solidFill>
                <a:srgbClr val="9E9E9E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 sz="1100" i="1" dirty="0">
                <a:solidFill>
                  <a:srgbClr val="9E9E9E"/>
                </a:solidFill>
              </a:rPr>
              <a:t>Express lack of trust in provided service</a:t>
            </a:r>
            <a:endParaRPr sz="1100" i="1" dirty="0">
              <a:solidFill>
                <a:srgbClr val="9E9E9E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AutoNum type="alphaLcPeriod"/>
            </a:pPr>
            <a:r>
              <a:rPr lang="en" sz="1100" i="1" dirty="0">
                <a:solidFill>
                  <a:srgbClr val="9E9E9E"/>
                </a:solidFill>
              </a:rPr>
              <a:t>”what if the snack is poorly packaged"</a:t>
            </a:r>
            <a:endParaRPr sz="1100" i="1" dirty="0">
              <a:solidFill>
                <a:srgbClr val="9E9E9E"/>
              </a:solidFill>
            </a:endParaRPr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4294967295"/>
          </p:nvPr>
        </p:nvSpPr>
        <p:spPr>
          <a:xfrm>
            <a:off x="1048800" y="1187325"/>
            <a:ext cx="4008900" cy="5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Key Characteristics</a:t>
            </a: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>
            <a:spLocks noGrp="1"/>
          </p:cNvSpPr>
          <p:nvPr>
            <p:ph type="title" idx="4294967295"/>
          </p:nvPr>
        </p:nvSpPr>
        <p:spPr>
          <a:xfrm>
            <a:off x="2128650" y="2408900"/>
            <a:ext cx="4886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Mapping Out the Path to Growth</a:t>
            </a:r>
            <a:endParaRPr sz="3400" b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Growth Problem Framing</a:t>
            </a:r>
            <a:endParaRPr sz="3400"/>
          </a:p>
        </p:txBody>
      </p:sp>
      <p:sp>
        <p:nvSpPr>
          <p:cNvPr id="110" name="Google Shape;110;p25"/>
          <p:cNvSpPr txBox="1">
            <a:spLocks noGrp="1"/>
          </p:cNvSpPr>
          <p:nvPr>
            <p:ph type="body" idx="4294967295"/>
          </p:nvPr>
        </p:nvSpPr>
        <p:spPr>
          <a:xfrm>
            <a:off x="992550" y="1237175"/>
            <a:ext cx="7158900" cy="32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/>
              <a:t>How  can we leverage </a:t>
            </a:r>
            <a:r>
              <a:rPr lang="en" sz="1300" b="1"/>
              <a:t>existing resources</a:t>
            </a:r>
            <a:r>
              <a:rPr lang="en" sz="1300"/>
              <a:t> and </a:t>
            </a:r>
            <a:r>
              <a:rPr lang="en" sz="1300" b="1"/>
              <a:t>the value it unlocks</a:t>
            </a:r>
            <a:r>
              <a:rPr lang="en" sz="1300"/>
              <a:t> to overcome </a:t>
            </a:r>
            <a:r>
              <a:rPr lang="en" sz="1300" b="1"/>
              <a:t>hurdles </a:t>
            </a:r>
            <a:r>
              <a:rPr lang="en" sz="1300"/>
              <a:t>and achieve our </a:t>
            </a:r>
            <a:r>
              <a:rPr lang="en" sz="1300" b="1"/>
              <a:t>goal</a:t>
            </a:r>
            <a:r>
              <a:rPr lang="en" sz="1300"/>
              <a:t>? </a:t>
            </a:r>
            <a:endParaRPr sz="1300"/>
          </a:p>
        </p:txBody>
      </p:sp>
      <p:graphicFrame>
        <p:nvGraphicFramePr>
          <p:cNvPr id="111" name="Google Shape;111;p25"/>
          <p:cNvGraphicFramePr/>
          <p:nvPr>
            <p:extLst>
              <p:ext uri="{D42A27DB-BD31-4B8C-83A1-F6EECF244321}">
                <p14:modId xmlns:p14="http://schemas.microsoft.com/office/powerpoint/2010/main" val="302501329"/>
              </p:ext>
            </p:extLst>
          </p:nvPr>
        </p:nvGraphicFramePr>
        <p:xfrm>
          <a:off x="952500" y="1948350"/>
          <a:ext cx="7239000" cy="3101407"/>
        </p:xfrm>
        <a:graphic>
          <a:graphicData uri="http://schemas.openxmlformats.org/drawingml/2006/table">
            <a:tbl>
              <a:tblPr>
                <a:noFill/>
                <a:tableStyleId>{B4BE6B9B-D142-4D32-ABCD-EE970F495A85}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Hurdles</a:t>
                      </a:r>
                      <a:endParaRPr sz="1300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marR="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100"/>
                        <a:buFont typeface="Open Sans"/>
                        <a:buChar char="●"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Lack of trust in provided service </a:t>
                      </a:r>
                    </a:p>
                    <a:p>
                      <a:pPr marL="457200" marR="0" lvl="0" indent="-3111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Open Sans"/>
                        <a:buChar char="●"/>
                        <a:tabLst/>
                        <a:defRPr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Intention to obtain product elsewhere</a:t>
                      </a:r>
                      <a:endParaRPr lang="en-GB" sz="1100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marR="0" lvl="0" indent="-3111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Open Sans"/>
                        <a:buChar char="●"/>
                        <a:tabLst/>
                        <a:defRPr/>
                      </a:pPr>
                      <a:r>
                        <a:rPr lang="en" sz="1100" i="1" dirty="0">
                          <a:solidFill>
                            <a:srgbClr val="9E9E9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Intention to obtain product elsewhere</a:t>
                      </a:r>
                      <a:endParaRPr lang="en-GB" sz="1100" u="none" strike="noStrike" cap="none" dirty="0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Open Sans"/>
                        <a:buChar char="●"/>
                      </a:pPr>
                      <a:endParaRPr sz="1300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Goal</a:t>
                      </a:r>
                      <a:endParaRPr sz="1300" b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marR="0" lvl="0" indent="-3111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Char char="●"/>
                        <a:tabLst/>
                        <a:defRPr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Intention to obtain product elsewhere</a:t>
                      </a:r>
                      <a:r>
                        <a:rPr lang="en" sz="1100" i="1" dirty="0">
                          <a:solidFill>
                            <a:srgbClr val="9E9E9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endParaRPr sz="1300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Resources</a:t>
                      </a:r>
                      <a:endParaRPr sz="1300" b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100"/>
                        <a:buFont typeface="Open Sans"/>
                        <a:buChar char="●"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Users:</a:t>
                      </a:r>
                    </a:p>
                    <a:p>
                      <a:pPr marL="914400" lvl="1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100"/>
                        <a:buFont typeface="Open Sans"/>
                        <a:buChar char="○"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Love “element of surprise”</a:t>
                      </a:r>
                    </a:p>
                    <a:p>
                      <a:pPr marL="914400" lvl="1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100"/>
                        <a:buFont typeface="Open Sans"/>
                        <a:buChar char="○"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Social media sharing</a:t>
                      </a:r>
                    </a:p>
                    <a:p>
                      <a:pPr marL="914400" lvl="1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100"/>
                        <a:buFont typeface="Open Sans"/>
                        <a:buChar char="○"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`Leave reviews</a:t>
                      </a:r>
                      <a:endParaRPr sz="13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marR="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100"/>
                        <a:buFont typeface="Open Sans"/>
                        <a:buChar char="●"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Platform:</a:t>
                      </a:r>
                    </a:p>
                    <a:p>
                      <a:pPr marL="914400" marR="0" lvl="1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100"/>
                        <a:buFont typeface="Open Sans"/>
                        <a:buChar char="○"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Informative website</a:t>
                      </a:r>
                    </a:p>
                    <a:p>
                      <a:pPr marL="914400" marR="0" lvl="1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100"/>
                        <a:buFont typeface="Open Sans"/>
                        <a:buChar char="○"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Customizable preferences </a:t>
                      </a:r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Open Sans"/>
                        <a:buChar char="●"/>
                      </a:pPr>
                      <a:endParaRPr sz="1300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Value</a:t>
                      </a:r>
                      <a:endParaRPr sz="1300" b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marR="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100"/>
                        <a:buFont typeface="Open Sans"/>
                        <a:buChar char="●"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People: </a:t>
                      </a:r>
                    </a:p>
                    <a:p>
                      <a:pPr marL="914400" marR="0" lvl="1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100"/>
                        <a:buFont typeface="Open Sans"/>
                        <a:buChar char="○"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highly engaged users who advertise our product within own social media network</a:t>
                      </a:r>
                      <a:endParaRPr sz="13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marR="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100"/>
                        <a:buFont typeface="Open Sans"/>
                        <a:buChar char="●"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Data:</a:t>
                      </a:r>
                    </a:p>
                    <a:p>
                      <a:pPr marL="914400" marR="0" lvl="1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100"/>
                        <a:buFont typeface="Open Sans"/>
                        <a:buChar char="○"/>
                      </a:pPr>
                      <a:r>
                        <a:rPr lang="en-GB" sz="1100" i="1" dirty="0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reviews from the users is a good source of info to improve snack offers and service overall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The Growth Loop</a:t>
            </a:r>
            <a:endParaRPr sz="3400"/>
          </a:p>
        </p:txBody>
      </p:sp>
      <p:sp>
        <p:nvSpPr>
          <p:cNvPr id="2" name="Google Shape;118;p26">
            <a:extLst>
              <a:ext uri="{FF2B5EF4-FFF2-40B4-BE49-F238E27FC236}">
                <a16:creationId xmlns:a16="http://schemas.microsoft.com/office/drawing/2014/main" id="{CCDD7952-B567-C226-F1C1-54B4926A3CC5}"/>
              </a:ext>
            </a:extLst>
          </p:cNvPr>
          <p:cNvSpPr/>
          <p:nvPr/>
        </p:nvSpPr>
        <p:spPr>
          <a:xfrm rot="2700000">
            <a:off x="3081562" y="3083089"/>
            <a:ext cx="409415" cy="295712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19;p26">
            <a:extLst>
              <a:ext uri="{FF2B5EF4-FFF2-40B4-BE49-F238E27FC236}">
                <a16:creationId xmlns:a16="http://schemas.microsoft.com/office/drawing/2014/main" id="{D8E9E104-9D69-0B60-6815-F2A71A2C55FA}"/>
              </a:ext>
            </a:extLst>
          </p:cNvPr>
          <p:cNvSpPr/>
          <p:nvPr/>
        </p:nvSpPr>
        <p:spPr>
          <a:xfrm rot="9235382">
            <a:off x="3187699" y="2067658"/>
            <a:ext cx="409484" cy="295443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20;p26">
            <a:extLst>
              <a:ext uri="{FF2B5EF4-FFF2-40B4-BE49-F238E27FC236}">
                <a16:creationId xmlns:a16="http://schemas.microsoft.com/office/drawing/2014/main" id="{D5E4C782-0958-3556-710C-D2D179FB5AC6}"/>
              </a:ext>
            </a:extLst>
          </p:cNvPr>
          <p:cNvSpPr/>
          <p:nvPr/>
        </p:nvSpPr>
        <p:spPr>
          <a:xfrm rot="-2078683">
            <a:off x="5210483" y="3083105"/>
            <a:ext cx="409509" cy="295667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21;p26">
            <a:extLst>
              <a:ext uri="{FF2B5EF4-FFF2-40B4-BE49-F238E27FC236}">
                <a16:creationId xmlns:a16="http://schemas.microsoft.com/office/drawing/2014/main" id="{0C6FF338-AA22-2D23-8A33-FB3424BC8B26}"/>
              </a:ext>
            </a:extLst>
          </p:cNvPr>
          <p:cNvSpPr txBox="1"/>
          <p:nvPr/>
        </p:nvSpPr>
        <p:spPr>
          <a:xfrm>
            <a:off x="3584175" y="2414763"/>
            <a:ext cx="1719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Craft Snacks Growth Loop</a:t>
            </a:r>
            <a:endParaRPr sz="1800" b="1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" name="Google Shape;122;p26">
            <a:extLst>
              <a:ext uri="{FF2B5EF4-FFF2-40B4-BE49-F238E27FC236}">
                <a16:creationId xmlns:a16="http://schemas.microsoft.com/office/drawing/2014/main" id="{6BB5C6A4-FED9-0415-BD75-73AA65AC96F6}"/>
              </a:ext>
            </a:extLst>
          </p:cNvPr>
          <p:cNvCxnSpPr/>
          <p:nvPr/>
        </p:nvCxnSpPr>
        <p:spPr>
          <a:xfrm rot="10800000" flipH="1">
            <a:off x="1726275" y="3287350"/>
            <a:ext cx="613800" cy="8139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123;p26">
            <a:extLst>
              <a:ext uri="{FF2B5EF4-FFF2-40B4-BE49-F238E27FC236}">
                <a16:creationId xmlns:a16="http://schemas.microsoft.com/office/drawing/2014/main" id="{5896AA7F-61FD-DD5A-0EB9-A9E40CD96C03}"/>
              </a:ext>
            </a:extLst>
          </p:cNvPr>
          <p:cNvSpPr txBox="1"/>
          <p:nvPr/>
        </p:nvSpPr>
        <p:spPr>
          <a:xfrm>
            <a:off x="3535575" y="1174750"/>
            <a:ext cx="1817100" cy="132340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1200" dirty="0"/>
              <a:t>Users receive their monthly snack box and discover a favorite snack.</a:t>
            </a: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Google Shape;124;p26">
            <a:extLst>
              <a:ext uri="{FF2B5EF4-FFF2-40B4-BE49-F238E27FC236}">
                <a16:creationId xmlns:a16="http://schemas.microsoft.com/office/drawing/2014/main" id="{F8B57CF5-51E9-FD7D-E7A3-2F83DF618353}"/>
              </a:ext>
            </a:extLst>
          </p:cNvPr>
          <p:cNvSpPr txBox="1"/>
          <p:nvPr/>
        </p:nvSpPr>
        <p:spPr>
          <a:xfrm>
            <a:off x="3535575" y="3480250"/>
            <a:ext cx="1817100" cy="112335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1200" dirty="0"/>
              <a:t>Friends try the snack, discover Craft Snacks, and are encouraged to subscribe.</a:t>
            </a: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Google Shape;125;p26">
            <a:extLst>
              <a:ext uri="{FF2B5EF4-FFF2-40B4-BE49-F238E27FC236}">
                <a16:creationId xmlns:a16="http://schemas.microsoft.com/office/drawing/2014/main" id="{4717D5A9-BAF5-8953-7B51-9F149C74AC50}"/>
              </a:ext>
            </a:extLst>
          </p:cNvPr>
          <p:cNvSpPr txBox="1"/>
          <p:nvPr/>
        </p:nvSpPr>
        <p:spPr>
          <a:xfrm>
            <a:off x="1171275" y="2207800"/>
            <a:ext cx="1817100" cy="9386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1200" dirty="0"/>
              <a:t>More new users subscribe to Craft Snacks</a:t>
            </a: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26;p26">
            <a:extLst>
              <a:ext uri="{FF2B5EF4-FFF2-40B4-BE49-F238E27FC236}">
                <a16:creationId xmlns:a16="http://schemas.microsoft.com/office/drawing/2014/main" id="{AA67F506-8CD4-7E67-4CCE-5554BA3A786A}"/>
              </a:ext>
            </a:extLst>
          </p:cNvPr>
          <p:cNvSpPr txBox="1"/>
          <p:nvPr/>
        </p:nvSpPr>
        <p:spPr>
          <a:xfrm>
            <a:off x="5899875" y="2327650"/>
            <a:ext cx="1817100" cy="9386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DE" sz="1200" dirty="0"/>
              <a:t>Users send a sample of their favorite snack to a friend.</a:t>
            </a: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Google Shape;127;p26">
            <a:extLst>
              <a:ext uri="{FF2B5EF4-FFF2-40B4-BE49-F238E27FC236}">
                <a16:creationId xmlns:a16="http://schemas.microsoft.com/office/drawing/2014/main" id="{27A717E9-9718-D38C-34BD-B9A5EAAE15D0}"/>
              </a:ext>
            </a:extLst>
          </p:cNvPr>
          <p:cNvSpPr txBox="1"/>
          <p:nvPr/>
        </p:nvSpPr>
        <p:spPr>
          <a:xfrm>
            <a:off x="449005" y="3859251"/>
            <a:ext cx="2694600" cy="1031021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Product Feature</a:t>
            </a:r>
            <a:endParaRPr sz="11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1100" dirty="0"/>
              <a:t>Allow subscribers to send a sample of their favorite snack to a friend with a unique invitation link.</a:t>
            </a:r>
            <a:endParaRPr sz="1100" dirty="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The Growth Loop: Hypotheses</a:t>
            </a:r>
            <a:endParaRPr sz="3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/>
          </a:p>
        </p:txBody>
      </p:sp>
      <p:sp>
        <p:nvSpPr>
          <p:cNvPr id="16" name="Google Shape;118;p26">
            <a:extLst>
              <a:ext uri="{FF2B5EF4-FFF2-40B4-BE49-F238E27FC236}">
                <a16:creationId xmlns:a16="http://schemas.microsoft.com/office/drawing/2014/main" id="{77C9BC8F-BD61-8786-A242-D2022B8F9E19}"/>
              </a:ext>
            </a:extLst>
          </p:cNvPr>
          <p:cNvSpPr/>
          <p:nvPr/>
        </p:nvSpPr>
        <p:spPr>
          <a:xfrm rot="2700000">
            <a:off x="3081562" y="3083089"/>
            <a:ext cx="409415" cy="295712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19;p26">
            <a:extLst>
              <a:ext uri="{FF2B5EF4-FFF2-40B4-BE49-F238E27FC236}">
                <a16:creationId xmlns:a16="http://schemas.microsoft.com/office/drawing/2014/main" id="{88932D84-FA81-E456-8180-D32A31472073}"/>
              </a:ext>
            </a:extLst>
          </p:cNvPr>
          <p:cNvSpPr/>
          <p:nvPr/>
        </p:nvSpPr>
        <p:spPr>
          <a:xfrm rot="9235382">
            <a:off x="3187699" y="2067658"/>
            <a:ext cx="409484" cy="295443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20;p26">
            <a:extLst>
              <a:ext uri="{FF2B5EF4-FFF2-40B4-BE49-F238E27FC236}">
                <a16:creationId xmlns:a16="http://schemas.microsoft.com/office/drawing/2014/main" id="{1B1E83C7-F585-F300-D30E-094E09D5CDE3}"/>
              </a:ext>
            </a:extLst>
          </p:cNvPr>
          <p:cNvSpPr/>
          <p:nvPr/>
        </p:nvSpPr>
        <p:spPr>
          <a:xfrm rot="-2078683">
            <a:off x="5210483" y="3083105"/>
            <a:ext cx="409509" cy="295667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21;p26">
            <a:extLst>
              <a:ext uri="{FF2B5EF4-FFF2-40B4-BE49-F238E27FC236}">
                <a16:creationId xmlns:a16="http://schemas.microsoft.com/office/drawing/2014/main" id="{5257E34E-3069-514C-A3EC-423919953765}"/>
              </a:ext>
            </a:extLst>
          </p:cNvPr>
          <p:cNvSpPr txBox="1"/>
          <p:nvPr/>
        </p:nvSpPr>
        <p:spPr>
          <a:xfrm>
            <a:off x="3584175" y="2414763"/>
            <a:ext cx="1719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Craft Snacks Growth Loop</a:t>
            </a:r>
            <a:endParaRPr sz="1800" b="1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" name="Google Shape;122;p26">
            <a:extLst>
              <a:ext uri="{FF2B5EF4-FFF2-40B4-BE49-F238E27FC236}">
                <a16:creationId xmlns:a16="http://schemas.microsoft.com/office/drawing/2014/main" id="{1EBC207C-9ACF-FFCC-89D8-5E4BB2DC5E6A}"/>
              </a:ext>
            </a:extLst>
          </p:cNvPr>
          <p:cNvCxnSpPr/>
          <p:nvPr/>
        </p:nvCxnSpPr>
        <p:spPr>
          <a:xfrm rot="10800000" flipH="1">
            <a:off x="1726275" y="3287350"/>
            <a:ext cx="613800" cy="8139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123;p26">
            <a:extLst>
              <a:ext uri="{FF2B5EF4-FFF2-40B4-BE49-F238E27FC236}">
                <a16:creationId xmlns:a16="http://schemas.microsoft.com/office/drawing/2014/main" id="{6E4F611C-0C02-AF5F-861C-554C4D58E6DC}"/>
              </a:ext>
            </a:extLst>
          </p:cNvPr>
          <p:cNvSpPr txBox="1"/>
          <p:nvPr/>
        </p:nvSpPr>
        <p:spPr>
          <a:xfrm>
            <a:off x="3535575" y="1174750"/>
            <a:ext cx="1817100" cy="132340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1200" dirty="0"/>
              <a:t>Users receive their monthly snack box and discover a favorite snack.</a:t>
            </a: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124;p26">
            <a:extLst>
              <a:ext uri="{FF2B5EF4-FFF2-40B4-BE49-F238E27FC236}">
                <a16:creationId xmlns:a16="http://schemas.microsoft.com/office/drawing/2014/main" id="{D901A698-851C-91FB-DC3B-FF681561D9EC}"/>
              </a:ext>
            </a:extLst>
          </p:cNvPr>
          <p:cNvSpPr txBox="1"/>
          <p:nvPr/>
        </p:nvSpPr>
        <p:spPr>
          <a:xfrm>
            <a:off x="3464342" y="3151856"/>
            <a:ext cx="1817100" cy="80018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900" dirty="0"/>
              <a:t>Friends try the snack, discover Craft Snacks, and are encouraged to subscribe.</a:t>
            </a:r>
            <a:endParaRPr sz="9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Google Shape;125;p26">
            <a:extLst>
              <a:ext uri="{FF2B5EF4-FFF2-40B4-BE49-F238E27FC236}">
                <a16:creationId xmlns:a16="http://schemas.microsoft.com/office/drawing/2014/main" id="{3DC7B12B-F677-398C-C9D3-FFEFE74D8FA9}"/>
              </a:ext>
            </a:extLst>
          </p:cNvPr>
          <p:cNvSpPr txBox="1"/>
          <p:nvPr/>
        </p:nvSpPr>
        <p:spPr>
          <a:xfrm>
            <a:off x="1171275" y="2207800"/>
            <a:ext cx="1817100" cy="9386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1200" dirty="0"/>
              <a:t>More new users subscribe to Craft Snacks</a:t>
            </a: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Google Shape;126;p26">
            <a:extLst>
              <a:ext uri="{FF2B5EF4-FFF2-40B4-BE49-F238E27FC236}">
                <a16:creationId xmlns:a16="http://schemas.microsoft.com/office/drawing/2014/main" id="{075F0D3A-3B25-3A90-73E2-69115FFFAFE6}"/>
              </a:ext>
            </a:extLst>
          </p:cNvPr>
          <p:cNvSpPr txBox="1"/>
          <p:nvPr/>
        </p:nvSpPr>
        <p:spPr>
          <a:xfrm>
            <a:off x="5899875" y="2327650"/>
            <a:ext cx="1817100" cy="9386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DE" sz="1200" dirty="0"/>
              <a:t>Users send a sample of their favorite snack to a friend.</a:t>
            </a: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" name="Google Shape;127;p26">
            <a:extLst>
              <a:ext uri="{FF2B5EF4-FFF2-40B4-BE49-F238E27FC236}">
                <a16:creationId xmlns:a16="http://schemas.microsoft.com/office/drawing/2014/main" id="{3045A271-03B6-1DDA-6179-191CEF3DC226}"/>
              </a:ext>
            </a:extLst>
          </p:cNvPr>
          <p:cNvSpPr txBox="1"/>
          <p:nvPr/>
        </p:nvSpPr>
        <p:spPr>
          <a:xfrm>
            <a:off x="449005" y="3859251"/>
            <a:ext cx="1891070" cy="1200298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Product Feature</a:t>
            </a:r>
            <a:endParaRPr sz="11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1100" dirty="0"/>
              <a:t>Allow subscribers to send a sample of their favorite snack to a friend with a unique invitation link.</a:t>
            </a:r>
            <a:endParaRPr sz="1100" dirty="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Google Shape;148;p28">
            <a:extLst>
              <a:ext uri="{FF2B5EF4-FFF2-40B4-BE49-F238E27FC236}">
                <a16:creationId xmlns:a16="http://schemas.microsoft.com/office/drawing/2014/main" id="{C1686E28-7C2F-2E11-04B9-91929F844835}"/>
              </a:ext>
            </a:extLst>
          </p:cNvPr>
          <p:cNvSpPr txBox="1"/>
          <p:nvPr/>
        </p:nvSpPr>
        <p:spPr>
          <a:xfrm>
            <a:off x="3192204" y="3920806"/>
            <a:ext cx="2160471" cy="1077188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Hypothesis 3</a:t>
            </a:r>
          </a:p>
          <a:p>
            <a:pPr>
              <a:buClr>
                <a:schemeClr val="dk1"/>
              </a:buClr>
              <a:buSzPts val="1100"/>
            </a:pPr>
            <a:r>
              <a:rPr lang="en-DE" sz="900" dirty="0"/>
              <a:t>Friends who receive and enjoy the sample will be more likely to subscribe to Craft Snacks.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149;p28">
            <a:extLst>
              <a:ext uri="{FF2B5EF4-FFF2-40B4-BE49-F238E27FC236}">
                <a16:creationId xmlns:a16="http://schemas.microsoft.com/office/drawing/2014/main" id="{405A91EF-BC49-12B9-056A-C6A079A4029D}"/>
              </a:ext>
            </a:extLst>
          </p:cNvPr>
          <p:cNvSpPr txBox="1"/>
          <p:nvPr/>
        </p:nvSpPr>
        <p:spPr>
          <a:xfrm>
            <a:off x="5865750" y="3881400"/>
            <a:ext cx="2694600" cy="1031021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Primary Hypothesis</a:t>
            </a:r>
            <a:endParaRPr sz="11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1100" dirty="0"/>
              <a:t>Sharing a favorite snack with friends will encourage more potential customers to subscribe to Craft Snacks.</a:t>
            </a:r>
            <a:endParaRPr sz="1100" dirty="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152;p28">
            <a:extLst>
              <a:ext uri="{FF2B5EF4-FFF2-40B4-BE49-F238E27FC236}">
                <a16:creationId xmlns:a16="http://schemas.microsoft.com/office/drawing/2014/main" id="{909B7832-EFCF-54FD-F2D4-642CD05991B9}"/>
              </a:ext>
            </a:extLst>
          </p:cNvPr>
          <p:cNvSpPr txBox="1"/>
          <p:nvPr/>
        </p:nvSpPr>
        <p:spPr>
          <a:xfrm>
            <a:off x="2051775" y="1054557"/>
            <a:ext cx="1527000" cy="861744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Hypothesis 1</a:t>
            </a:r>
            <a:endParaRPr sz="11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1100" dirty="0"/>
              <a:t>Users will identify a favorite snack from their monthly box.</a:t>
            </a:r>
            <a:endParaRPr sz="1100" dirty="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Google Shape;153;p28">
            <a:extLst>
              <a:ext uri="{FF2B5EF4-FFF2-40B4-BE49-F238E27FC236}">
                <a16:creationId xmlns:a16="http://schemas.microsoft.com/office/drawing/2014/main" id="{C410B8CA-ABF0-615B-7BA4-F952BD8496E8}"/>
              </a:ext>
            </a:extLst>
          </p:cNvPr>
          <p:cNvSpPr txBox="1"/>
          <p:nvPr/>
        </p:nvSpPr>
        <p:spPr>
          <a:xfrm>
            <a:off x="6672450" y="2792983"/>
            <a:ext cx="2089050" cy="1031021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Hypothesis 2</a:t>
            </a:r>
            <a:endParaRPr sz="11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en-DE" sz="1100" dirty="0"/>
              <a:t>Users will be willing to send a sample of their favorite snack to a friend.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Growth Hypotheses </a:t>
            </a:r>
            <a:endParaRPr sz="3400"/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4294967295"/>
          </p:nvPr>
        </p:nvSpPr>
        <p:spPr>
          <a:xfrm>
            <a:off x="953925" y="1237175"/>
            <a:ext cx="7158900" cy="32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/>
              <a:t>Primary Hypothesis </a:t>
            </a:r>
            <a:endParaRPr sz="1300" b="1" dirty="0"/>
          </a:p>
          <a:p>
            <a:pPr lvl="0" indent="-311150">
              <a:spcBef>
                <a:spcPts val="1600"/>
              </a:spcBef>
              <a:buSzPts val="1300"/>
            </a:pPr>
            <a:r>
              <a:rPr lang="en-DE" sz="1100" dirty="0"/>
              <a:t>By enabling existing users to share a sample of their favorite snack with friends, we can reduce potential customers’ uncertainty about the product and encourage more of them to subscribe to Craft Snacks.</a:t>
            </a:r>
            <a:r>
              <a:rPr lang="en" sz="1100" i="1" dirty="0">
                <a:solidFill>
                  <a:srgbClr val="9E9E9E"/>
                </a:solidFill>
              </a:rPr>
              <a:t> </a:t>
            </a:r>
            <a:endParaRPr sz="13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300" b="1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/>
              <a:t>Secondary Hypotheses</a:t>
            </a:r>
            <a:endParaRPr sz="1300" b="1" dirty="0"/>
          </a:p>
          <a:p>
            <a:pPr lvl="0" indent="-311150">
              <a:spcBef>
                <a:spcPts val="1600"/>
              </a:spcBef>
              <a:buSzPts val="1300"/>
              <a:buAutoNum type="alphaUcPeriod"/>
            </a:pPr>
            <a:r>
              <a:rPr lang="en-DE" sz="1100" dirty="0"/>
              <a:t>Users will identify a favorite snack from their monthly snack box.</a:t>
            </a:r>
            <a:r>
              <a:rPr lang="en" sz="1100" dirty="0"/>
              <a:t> </a:t>
            </a:r>
            <a:endParaRPr sz="1100" dirty="0"/>
          </a:p>
          <a:p>
            <a:pPr lvl="0" indent="-311150">
              <a:buSzPts val="1300"/>
              <a:buAutoNum type="alphaUcPeriod"/>
            </a:pPr>
            <a:r>
              <a:rPr lang="en-DE" sz="1100" dirty="0"/>
              <a:t>Users will be willing to send a sample of their favorite snack to a friend.</a:t>
            </a:r>
            <a:endParaRPr sz="1100" dirty="0"/>
          </a:p>
          <a:p>
            <a:pPr lvl="0" indent="-311150">
              <a:buSzPts val="1300"/>
              <a:buAutoNum type="alphaUcPeriod"/>
            </a:pPr>
            <a:r>
              <a:rPr lang="en-DE" sz="1100" dirty="0"/>
              <a:t>Friends who receive and enjoy the sample will be encouraged to subscribe to Craft Snacks.</a:t>
            </a:r>
            <a:r>
              <a:rPr lang="en" sz="1100" i="1" dirty="0">
                <a:solidFill>
                  <a:srgbClr val="9E9E9E"/>
                </a:solidFill>
              </a:rPr>
              <a:t> </a:t>
            </a:r>
            <a:endParaRPr sz="13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3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 dirty="0"/>
              <a:t> </a:t>
            </a:r>
            <a:endParaRPr sz="13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 idx="4294967295"/>
          </p:nvPr>
        </p:nvSpPr>
        <p:spPr>
          <a:xfrm>
            <a:off x="1472700" y="2403500"/>
            <a:ext cx="6198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Validating the Path to Growth</a:t>
            </a:r>
            <a:endParaRPr sz="3400" b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A/B Testing: Goal and Metric</a:t>
            </a:r>
            <a:endParaRPr sz="3400"/>
          </a:p>
        </p:txBody>
      </p:sp>
      <p:sp>
        <p:nvSpPr>
          <p:cNvPr id="175" name="Google Shape;175;p32"/>
          <p:cNvSpPr txBox="1">
            <a:spLocks noGrp="1"/>
          </p:cNvSpPr>
          <p:nvPr>
            <p:ph type="body" idx="4294967295"/>
          </p:nvPr>
        </p:nvSpPr>
        <p:spPr>
          <a:xfrm>
            <a:off x="1048800" y="1142325"/>
            <a:ext cx="7060200" cy="32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Primary </a:t>
            </a:r>
            <a:endParaRPr sz="1300" dirty="0"/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100" i="1" dirty="0">
                <a:solidFill>
                  <a:srgbClr val="9E9E9E"/>
                </a:solidFill>
              </a:rPr>
              <a:t>To fill in: </a:t>
            </a:r>
            <a:r>
              <a:rPr lang="en-DE" sz="1200" i="1" dirty="0"/>
              <a:t>Does enabling existing users to send a sample of their favorite snack to friends encourage more potential customers to subscribe to Craft Snacks?</a:t>
            </a:r>
            <a:endParaRPr sz="1300" dirty="0"/>
          </a:p>
          <a:p>
            <a:pPr lvl="2" indent="-311150">
              <a:spcBef>
                <a:spcPts val="0"/>
              </a:spcBef>
              <a:buSzPts val="1300"/>
            </a:pPr>
            <a:r>
              <a:rPr lang="en" sz="1300" dirty="0"/>
              <a:t>Metric: </a:t>
            </a:r>
            <a:r>
              <a:rPr lang="en-DE" sz="1100" i="1" dirty="0"/>
              <a:t>of monthly new subscribed users through invitation links.</a:t>
            </a:r>
            <a:r>
              <a:rPr lang="en" sz="1100" i="1" dirty="0">
                <a:solidFill>
                  <a:srgbClr val="9E9E9E"/>
                </a:solidFill>
              </a:rPr>
              <a:t> </a:t>
            </a:r>
            <a:endParaRPr sz="1300" b="1" dirty="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*Secondary  </a:t>
            </a:r>
            <a:endParaRPr sz="1300" dirty="0"/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100" i="1" dirty="0">
                <a:solidFill>
                  <a:srgbClr val="9E9E9E"/>
                </a:solidFill>
              </a:rPr>
              <a:t>To fill in: </a:t>
            </a:r>
            <a:r>
              <a:rPr lang="en-DE" sz="1200" i="1" dirty="0"/>
              <a:t>Are existing users willing to send a sample of their favorite snack to a friend?</a:t>
            </a:r>
            <a:endParaRPr sz="1200" i="1" dirty="0"/>
          </a:p>
          <a:p>
            <a:pPr lvl="2" indent="-311150">
              <a:spcBef>
                <a:spcPts val="0"/>
              </a:spcBef>
              <a:buSzPts val="1300"/>
            </a:pPr>
            <a:r>
              <a:rPr lang="en" sz="1300" dirty="0"/>
              <a:t>Metric: </a:t>
            </a:r>
            <a:r>
              <a:rPr lang="en" sz="1200" i="1" dirty="0"/>
              <a:t>number </a:t>
            </a:r>
            <a:r>
              <a:rPr lang="en-DE" sz="1200" i="1" dirty="0"/>
              <a:t>of monthly users who send a favorite-snack sample</a:t>
            </a:r>
            <a:r>
              <a:rPr lang="en-DE" sz="1100" dirty="0"/>
              <a:t>.</a:t>
            </a:r>
            <a:endParaRPr sz="1300" dirty="0"/>
          </a:p>
          <a:p>
            <a:pPr marL="1371600" lvl="2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 dirty="0"/>
              <a:t>Rationale:</a:t>
            </a:r>
            <a:r>
              <a:rPr lang="en-GB" sz="1100" i="1" dirty="0">
                <a:solidFill>
                  <a:srgbClr val="9E9E9E"/>
                </a:solidFill>
              </a:rPr>
              <a:t> (Optional )To fill in if the metric is not already mentioned in the prompt </a:t>
            </a:r>
            <a:endParaRPr lang="en-GB" sz="1300" dirty="0"/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100" i="1" dirty="0">
                <a:solidFill>
                  <a:srgbClr val="9E9E9E"/>
                </a:solidFill>
              </a:rPr>
              <a:t>To fill in: </a:t>
            </a:r>
            <a:r>
              <a:rPr lang="en-DE" sz="1200" dirty="0"/>
              <a:t>Are friends who receive a favorite-snack sample interested enough to visit Craft Snacks through the invitation link?</a:t>
            </a:r>
            <a:endParaRPr sz="1300" dirty="0"/>
          </a:p>
          <a:p>
            <a:pPr lvl="2" indent="-311150">
              <a:spcBef>
                <a:spcPts val="0"/>
              </a:spcBef>
              <a:buSzPts val="1300"/>
            </a:pPr>
            <a:r>
              <a:rPr lang="en" sz="1300" dirty="0"/>
              <a:t>Metric: </a:t>
            </a:r>
            <a:r>
              <a:rPr lang="en" sz="1100" i="1" dirty="0"/>
              <a:t>number </a:t>
            </a:r>
            <a:r>
              <a:rPr lang="en-DE" sz="1100" i="1" dirty="0"/>
              <a:t>of monthly visitors coming through favorite-snack invitation links.</a:t>
            </a:r>
            <a:r>
              <a:rPr lang="en" sz="1100" i="1" dirty="0">
                <a:solidFill>
                  <a:srgbClr val="9E9E9E"/>
                </a:solidFill>
              </a:rPr>
              <a:t> </a:t>
            </a:r>
            <a:endParaRPr sz="1100" i="1" dirty="0">
              <a:solidFill>
                <a:srgbClr val="9E9E9E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Char char="■"/>
            </a:pPr>
            <a:r>
              <a:rPr lang="en" sz="1300" dirty="0"/>
              <a:t>Rationale: </a:t>
            </a:r>
            <a:r>
              <a:rPr lang="en" sz="1100" i="1" dirty="0">
                <a:solidFill>
                  <a:srgbClr val="9E9E9E"/>
                </a:solidFill>
              </a:rPr>
              <a:t>(Optional )To fill in if the metric is not already mentioned in the prompt </a:t>
            </a:r>
            <a:endParaRPr sz="1100" i="1" dirty="0">
              <a:solidFill>
                <a:srgbClr val="9E9E9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i="1" dirty="0"/>
              <a:t>* If the primary hypothesis was proven wrong, we need to examine our secondary hypotheses to know where along the loop did we form a wrong hypothesis</a:t>
            </a:r>
            <a:endParaRPr sz="1100" i="1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A/B Testing: Audience and Setup</a:t>
            </a:r>
            <a:endParaRPr sz="3400"/>
          </a:p>
        </p:txBody>
      </p:sp>
      <p:sp>
        <p:nvSpPr>
          <p:cNvPr id="181" name="Google Shape;181;p33"/>
          <p:cNvSpPr txBox="1">
            <a:spLocks noGrp="1"/>
          </p:cNvSpPr>
          <p:nvPr>
            <p:ph type="body" idx="4294967295"/>
          </p:nvPr>
        </p:nvSpPr>
        <p:spPr>
          <a:xfrm>
            <a:off x="4914300" y="1213625"/>
            <a:ext cx="3451800" cy="32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/>
              <a:t>Test Setup</a:t>
            </a:r>
            <a:endParaRPr sz="1300" b="1" dirty="0"/>
          </a:p>
          <a:p>
            <a:pPr lvl="0" indent="-311150">
              <a:spcBef>
                <a:spcPts val="1600"/>
              </a:spcBef>
              <a:buSzPts val="1300"/>
            </a:pPr>
            <a:r>
              <a:rPr lang="en" sz="1300" dirty="0"/>
              <a:t>A. Control -</a:t>
            </a:r>
            <a:r>
              <a:rPr lang="en-DE" sz="1100" dirty="0"/>
              <a:t>Existing Craft Snacks users continue with the current experience and do not have the ability to send a favorite-snack sample to a friend.</a:t>
            </a:r>
            <a:endParaRPr sz="1100" dirty="0"/>
          </a:p>
          <a:p>
            <a:pPr indent="-311150">
              <a:spcBef>
                <a:spcPts val="1600"/>
              </a:spcBef>
              <a:buSzPts val="1300"/>
            </a:pPr>
            <a:r>
              <a:rPr lang="en" sz="1300" dirty="0"/>
              <a:t>B. Variant -</a:t>
            </a:r>
            <a:r>
              <a:rPr lang="en-DE" sz="1100" dirty="0"/>
              <a:t>Existing Craft Snacks users can send a sample of their favorite snack to a friend using a unique invitation link.</a:t>
            </a: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82" name="Google Shape;182;p33"/>
          <p:cNvSpPr txBox="1">
            <a:spLocks noGrp="1"/>
          </p:cNvSpPr>
          <p:nvPr>
            <p:ph type="body" idx="4294967295"/>
          </p:nvPr>
        </p:nvSpPr>
        <p:spPr>
          <a:xfrm>
            <a:off x="665250" y="1213625"/>
            <a:ext cx="4249200" cy="32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/>
              <a:t>Test Audience</a:t>
            </a:r>
            <a:endParaRPr sz="1300" b="1" dirty="0"/>
          </a:p>
          <a:p>
            <a:pPr lvl="0" indent="-311150">
              <a:spcBef>
                <a:spcPts val="1600"/>
              </a:spcBef>
              <a:buSzPts val="1300"/>
            </a:pPr>
            <a:r>
              <a:rPr lang="en" sz="1300" dirty="0"/>
              <a:t>Target Audience: </a:t>
            </a:r>
            <a:r>
              <a:rPr lang="en-DE" sz="1100" dirty="0"/>
              <a:t>Existing Craft Snacks subscribers who have received at least one snack box and identified a favorite snack.</a:t>
            </a:r>
            <a:r>
              <a:rPr lang="en" sz="1100" i="1" dirty="0">
                <a:solidFill>
                  <a:srgbClr val="9E9E9E"/>
                </a:solidFill>
              </a:rPr>
              <a:t> </a:t>
            </a:r>
            <a:endParaRPr sz="1300" dirty="0"/>
          </a:p>
          <a:p>
            <a:pPr lvl="0" indent="-311150">
              <a:buSzPts val="1300"/>
            </a:pPr>
            <a:r>
              <a:rPr lang="en" sz="1300" dirty="0"/>
              <a:t>Rationale: </a:t>
            </a:r>
            <a:r>
              <a:rPr lang="en-DE" sz="1100" dirty="0"/>
              <a:t>These users have experienced the product and identified a snack they like, making them appropriate users for testing the favorite-snack sharing feature.</a:t>
            </a:r>
            <a:r>
              <a:rPr lang="en" sz="1300" dirty="0"/>
              <a:t> </a:t>
            </a:r>
            <a:endParaRPr sz="13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 dirty="0"/>
              <a:t>  </a:t>
            </a:r>
            <a:endParaRPr sz="13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A/B Testing: Risks</a:t>
            </a:r>
            <a:endParaRPr sz="3400"/>
          </a:p>
        </p:txBody>
      </p:sp>
      <p:sp>
        <p:nvSpPr>
          <p:cNvPr id="188" name="Google Shape;188;p34"/>
          <p:cNvSpPr txBox="1">
            <a:spLocks noGrp="1"/>
          </p:cNvSpPr>
          <p:nvPr>
            <p:ph type="body" idx="4294967295"/>
          </p:nvPr>
        </p:nvSpPr>
        <p:spPr>
          <a:xfrm>
            <a:off x="862975" y="1213625"/>
            <a:ext cx="7300200" cy="32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300" dirty="0"/>
              <a:t>Risk: </a:t>
            </a:r>
            <a:r>
              <a:rPr lang="en-DE" sz="1400" i="1" dirty="0"/>
              <a:t>Sending free snack samples to friends may create additional product, packaging, and delivery costs.</a:t>
            </a:r>
            <a:endParaRPr sz="1300" dirty="0"/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300" dirty="0"/>
              <a:t>Mitigation: </a:t>
            </a:r>
            <a:r>
              <a:rPr lang="en-DE" sz="1100" dirty="0"/>
              <a:t>Limit the experiment to one sample per eligible subscriber and monitor the acquisition cost per new subscriber</a:t>
            </a:r>
            <a:r>
              <a:rPr lang="en" sz="1100" i="1" dirty="0">
                <a:solidFill>
                  <a:srgbClr val="9E9E9E"/>
                </a:solidFill>
              </a:rPr>
              <a:t> </a:t>
            </a:r>
            <a:endParaRPr sz="1300" dirty="0"/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300" dirty="0"/>
          </a:p>
          <a:p>
            <a:pPr lvl="0" indent="-311150">
              <a:spcBef>
                <a:spcPts val="1600"/>
              </a:spcBef>
              <a:buSzPts val="1300"/>
            </a:pPr>
            <a:r>
              <a:rPr lang="en" sz="1300" dirty="0"/>
              <a:t>Risk: </a:t>
            </a:r>
            <a:r>
              <a:rPr lang="en-DE" sz="1400" dirty="0"/>
              <a:t>Friends may receive snacks that do not match their dietary preferences or allergies.</a:t>
            </a:r>
            <a:endParaRPr sz="1300" dirty="0"/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300" dirty="0"/>
              <a:t>Mitigation: </a:t>
            </a:r>
            <a:r>
              <a:rPr lang="en-DE" sz="1200" dirty="0"/>
              <a:t>Ask recipients to provide allergy and dietary information before selecting and shipping the sample.</a:t>
            </a:r>
            <a:endParaRPr sz="13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Analysis and Next Steps</a:t>
            </a:r>
            <a:endParaRPr sz="3400"/>
          </a:p>
        </p:txBody>
      </p:sp>
      <p:sp>
        <p:nvSpPr>
          <p:cNvPr id="194" name="Google Shape;194;p35"/>
          <p:cNvSpPr txBox="1">
            <a:spLocks noGrp="1"/>
          </p:cNvSpPr>
          <p:nvPr>
            <p:ph type="body" idx="4294967295"/>
          </p:nvPr>
        </p:nvSpPr>
        <p:spPr>
          <a:xfrm>
            <a:off x="671625" y="1213625"/>
            <a:ext cx="7665000" cy="32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1300" dirty="0"/>
              <a:t>If the experiment succeeds, what we expect to see: </a:t>
            </a:r>
            <a:r>
              <a:rPr lang="en-DE" sz="1400" dirty="0"/>
              <a:t>An increase in new subscribed users coming through favorite-snack invitation links.</a:t>
            </a:r>
            <a:endParaRPr sz="1300" dirty="0"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dirty="0"/>
              <a:t>Next steps </a:t>
            </a:r>
            <a:endParaRPr sz="1300" dirty="0"/>
          </a:p>
          <a:p>
            <a:pPr lvl="2" indent="-311150">
              <a:spcBef>
                <a:spcPts val="0"/>
              </a:spcBef>
              <a:buSzPts val="1300"/>
            </a:pPr>
            <a:r>
              <a:rPr lang="en-DE" sz="900" dirty="0"/>
              <a:t>Roll out the favorite-snack sharing feature to more Craft Snacks subscribers and continue monitoring acquisition and retention metrics.</a:t>
            </a:r>
            <a:endParaRPr sz="900" dirty="0"/>
          </a:p>
          <a:p>
            <a:pPr lvl="2" indent="-311150">
              <a:spcBef>
                <a:spcPts val="0"/>
              </a:spcBef>
              <a:buSzPts val="1300"/>
            </a:pPr>
            <a:r>
              <a:rPr lang="en-DE" sz="900" dirty="0"/>
              <a:t>Few users sending samples, few recipients visiting through invitation links, or recipients visiting but not subscribing.</a:t>
            </a:r>
            <a:endParaRPr sz="900" dirty="0"/>
          </a:p>
          <a:p>
            <a:pPr indent="-311150">
              <a:spcBef>
                <a:spcPts val="1600"/>
              </a:spcBef>
              <a:buSzPts val="1300"/>
            </a:pPr>
            <a:r>
              <a:rPr lang="en" sz="1300" dirty="0"/>
              <a:t>If the experiment fails, what we expect to see: </a:t>
            </a:r>
            <a:r>
              <a:rPr lang="en-DE" sz="1400" i="1" dirty="0"/>
              <a:t>Few users sending samples, few recipients visiting through invitation links, or recipients visiting but not subscribing.</a:t>
            </a:r>
            <a:endParaRPr sz="1300" dirty="0"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dirty="0"/>
              <a:t>Next steps </a:t>
            </a:r>
            <a:endParaRPr sz="1300" dirty="0"/>
          </a:p>
          <a:p>
            <a:pPr lvl="2" indent="-311150">
              <a:spcBef>
                <a:spcPts val="0"/>
              </a:spcBef>
              <a:buSzPts val="1300"/>
            </a:pPr>
            <a:r>
              <a:rPr lang="en-DE" sz="900" dirty="0"/>
              <a:t>Identify where the loop is breaking using the secondary metrics and improve that specific step before testing again.</a:t>
            </a:r>
            <a:endParaRPr sz="900" dirty="0"/>
          </a:p>
          <a:p>
            <a:pPr lvl="2" indent="-311150">
              <a:spcBef>
                <a:spcPts val="0"/>
              </a:spcBef>
              <a:buSzPts val="1300"/>
            </a:pPr>
            <a:r>
              <a:rPr lang="en-DE" sz="900" i="1" dirty="0"/>
              <a:t>Test an incentive, such as a discount on the recipient’s first subscription, to determine whether it increases conversion from sample recipients to new subscribers.</a:t>
            </a:r>
            <a:endParaRPr lang="en-DE" sz="900" dirty="0"/>
          </a:p>
          <a:p>
            <a:pPr marL="1371600" lvl="2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endParaRPr sz="1300" dirty="0"/>
          </a:p>
          <a:p>
            <a:pPr marL="91440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>
            <a:spLocks noGrp="1"/>
          </p:cNvSpPr>
          <p:nvPr>
            <p:ph type="title" idx="4294967295"/>
          </p:nvPr>
        </p:nvSpPr>
        <p:spPr>
          <a:xfrm>
            <a:off x="1464600" y="2403500"/>
            <a:ext cx="6214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Developing the Growth Vision</a:t>
            </a:r>
            <a:endParaRPr sz="3400" b="0"/>
          </a:p>
        </p:txBody>
      </p:sp>
      <p:sp>
        <p:nvSpPr>
          <p:cNvPr id="200" name="Google Shape;200;p36"/>
          <p:cNvSpPr txBox="1"/>
          <p:nvPr/>
        </p:nvSpPr>
        <p:spPr>
          <a:xfrm>
            <a:off x="7705200" y="4829825"/>
            <a:ext cx="15648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Growth Risks</a:t>
            </a:r>
            <a:endParaRPr/>
          </a:p>
        </p:txBody>
      </p:sp>
      <p:sp>
        <p:nvSpPr>
          <p:cNvPr id="206" name="Google Shape;206;p37"/>
          <p:cNvSpPr txBox="1">
            <a:spLocks noGrp="1"/>
          </p:cNvSpPr>
          <p:nvPr>
            <p:ph type="body" idx="4294967295"/>
          </p:nvPr>
        </p:nvSpPr>
        <p:spPr>
          <a:xfrm>
            <a:off x="1048800" y="1142325"/>
            <a:ext cx="7073100" cy="32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Customer Retention</a:t>
            </a:r>
            <a:endParaRPr sz="1300" dirty="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b="1" dirty="0"/>
              <a:t>Problem</a:t>
            </a:r>
            <a:r>
              <a:rPr lang="en" sz="1100" dirty="0"/>
              <a:t>: If we can not retain customers, we won’t be able to continue to drive growth.</a:t>
            </a:r>
            <a:endParaRPr sz="1100" dirty="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b="1" dirty="0"/>
              <a:t>Solution:</a:t>
            </a:r>
            <a:r>
              <a:rPr lang="en" sz="1100" dirty="0"/>
              <a:t> As we continue to acquire more users to sign up, we need to continue to ensure the acquired customers are happily engaged and stay with us and not causing churn.</a:t>
            </a:r>
            <a:endParaRPr sz="1100" i="1" dirty="0">
              <a:solidFill>
                <a:srgbClr val="9E9E9E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Market Saturation </a:t>
            </a:r>
            <a:endParaRPr sz="1300" dirty="0"/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100" i="1" dirty="0">
                <a:solidFill>
                  <a:srgbClr val="9E9E9E"/>
                </a:solidFill>
              </a:rPr>
              <a:t>Problem: </a:t>
            </a:r>
            <a:r>
              <a:rPr lang="en-DE" sz="1100" dirty="0"/>
              <a:t>Free samples, packaging, and delivery could make the growth loop too expensive to sustain.</a:t>
            </a:r>
            <a:endParaRPr sz="1100" i="1" dirty="0">
              <a:solidFill>
                <a:srgbClr val="9E9E9E"/>
              </a:solidFill>
            </a:endParaRPr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100" i="1" dirty="0">
                <a:solidFill>
                  <a:srgbClr val="9E9E9E"/>
                </a:solidFill>
              </a:rPr>
              <a:t>Solution: </a:t>
            </a:r>
            <a:r>
              <a:rPr lang="en-DE" sz="1100" dirty="0"/>
              <a:t>Track acquisition cost and limit samples/rewards to ensure the additional subscription revenue justifies the cost.</a:t>
            </a:r>
            <a:endParaRPr sz="1100" i="1" dirty="0">
              <a:solidFill>
                <a:srgbClr val="9E9E9E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Single Product and Market </a:t>
            </a:r>
            <a:endParaRPr sz="1300" dirty="0"/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100" i="1" dirty="0">
                <a:solidFill>
                  <a:srgbClr val="9E9E9E"/>
                </a:solidFill>
              </a:rPr>
              <a:t>Problem: </a:t>
            </a:r>
            <a:r>
              <a:rPr lang="en-DE" sz="1100" dirty="0"/>
              <a:t>Growth may slow as Craft Snacks reaches more customers within its existing target market.</a:t>
            </a:r>
            <a:endParaRPr sz="1100" i="1" dirty="0">
              <a:solidFill>
                <a:srgbClr val="9E9E9E"/>
              </a:solidFill>
            </a:endParaRPr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100" i="1" dirty="0">
                <a:solidFill>
                  <a:srgbClr val="9E9E9E"/>
                </a:solidFill>
              </a:rPr>
              <a:t>Solution: </a:t>
            </a:r>
            <a:r>
              <a:rPr lang="en-DE" sz="1100" dirty="0"/>
              <a:t>Explore new customer segments and product offerings to create additional growth opportunities.</a:t>
            </a:r>
            <a:endParaRPr sz="1100" i="1" dirty="0">
              <a:solidFill>
                <a:srgbClr val="9E9E9E"/>
              </a:solidFill>
            </a:endParaRPr>
          </a:p>
        </p:txBody>
      </p:sp>
      <p:sp>
        <p:nvSpPr>
          <p:cNvPr id="207" name="Google Shape;207;p37"/>
          <p:cNvSpPr txBox="1"/>
          <p:nvPr/>
        </p:nvSpPr>
        <p:spPr>
          <a:xfrm>
            <a:off x="3853775" y="4382775"/>
            <a:ext cx="15408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393FFA6E-451D-D82C-8EDB-706D99A55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>
            <a:extLst>
              <a:ext uri="{FF2B5EF4-FFF2-40B4-BE49-F238E27FC236}">
                <a16:creationId xmlns:a16="http://schemas.microsoft.com/office/drawing/2014/main" id="{5A9AA381-E3E3-A8D8-3969-ADA9BA811EA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Growth Risks</a:t>
            </a:r>
            <a:endParaRPr/>
          </a:p>
        </p:txBody>
      </p:sp>
      <p:sp>
        <p:nvSpPr>
          <p:cNvPr id="206" name="Google Shape;206;p37">
            <a:extLst>
              <a:ext uri="{FF2B5EF4-FFF2-40B4-BE49-F238E27FC236}">
                <a16:creationId xmlns:a16="http://schemas.microsoft.com/office/drawing/2014/main" id="{8BED47AE-C3E9-A3DD-A1CA-E593C16F4D2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48800" y="1142325"/>
            <a:ext cx="7073100" cy="32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Customer Retention</a:t>
            </a:r>
            <a:endParaRPr sz="1300" dirty="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b="1" dirty="0"/>
              <a:t>Problem</a:t>
            </a:r>
            <a:r>
              <a:rPr lang="en" sz="1100" dirty="0"/>
              <a:t>: If we can not retain customers, we won’t be able to continue to drive growth.</a:t>
            </a:r>
            <a:endParaRPr sz="1100" dirty="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b="1" dirty="0"/>
              <a:t>Solution:</a:t>
            </a:r>
            <a:r>
              <a:rPr lang="en" sz="1100" dirty="0"/>
              <a:t> As we continue to acquire more users to sign up, we need to continue to ensure the acquired customers are happily engaged and stay with us and not causing churn.</a:t>
            </a:r>
            <a:endParaRPr sz="1100" i="1" dirty="0">
              <a:solidFill>
                <a:srgbClr val="9E9E9E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Market Saturation </a:t>
            </a:r>
            <a:endParaRPr sz="1300" dirty="0"/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100" i="1" dirty="0">
                <a:solidFill>
                  <a:srgbClr val="9E9E9E"/>
                </a:solidFill>
              </a:rPr>
              <a:t>Problem: </a:t>
            </a:r>
            <a:r>
              <a:rPr lang="en-DE" sz="1100" dirty="0"/>
              <a:t>Free samples, packaging, and delivery could make the growth loop too expensive to sustain.</a:t>
            </a:r>
            <a:endParaRPr sz="1100" i="1" dirty="0">
              <a:solidFill>
                <a:srgbClr val="9E9E9E"/>
              </a:solidFill>
            </a:endParaRPr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100" i="1" dirty="0">
                <a:solidFill>
                  <a:srgbClr val="9E9E9E"/>
                </a:solidFill>
              </a:rPr>
              <a:t>Solution: </a:t>
            </a:r>
            <a:r>
              <a:rPr lang="en-DE" sz="1100" dirty="0"/>
              <a:t>Track acquisition cost and limit samples/rewards to ensure the additional subscription revenue justifies the cost.</a:t>
            </a:r>
            <a:endParaRPr sz="1100" i="1" dirty="0">
              <a:solidFill>
                <a:srgbClr val="9E9E9E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Single Product and Market </a:t>
            </a:r>
            <a:endParaRPr sz="1300" dirty="0"/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100" i="1" dirty="0">
                <a:solidFill>
                  <a:srgbClr val="9E9E9E"/>
                </a:solidFill>
              </a:rPr>
              <a:t>Problem: </a:t>
            </a:r>
            <a:r>
              <a:rPr lang="en-DE" sz="1100" dirty="0"/>
              <a:t>Growth may slow as Craft Snacks reaches more customers within its existing target market.</a:t>
            </a:r>
            <a:endParaRPr sz="1100" i="1" dirty="0">
              <a:solidFill>
                <a:srgbClr val="9E9E9E"/>
              </a:solidFill>
            </a:endParaRPr>
          </a:p>
          <a:p>
            <a:pPr lvl="1" indent="-311150">
              <a:spcBef>
                <a:spcPts val="0"/>
              </a:spcBef>
              <a:buSzPts val="1300"/>
            </a:pPr>
            <a:r>
              <a:rPr lang="en" sz="1100" i="1" dirty="0">
                <a:solidFill>
                  <a:srgbClr val="9E9E9E"/>
                </a:solidFill>
              </a:rPr>
              <a:t>Solution: </a:t>
            </a:r>
            <a:r>
              <a:rPr lang="en-DE" sz="1100" dirty="0"/>
              <a:t>Explore new customer segments and product offerings to create additional growth opportunities.</a:t>
            </a:r>
            <a:endParaRPr sz="1100" i="1" dirty="0">
              <a:solidFill>
                <a:srgbClr val="9E9E9E"/>
              </a:solidFill>
            </a:endParaRPr>
          </a:p>
        </p:txBody>
      </p:sp>
      <p:sp>
        <p:nvSpPr>
          <p:cNvPr id="207" name="Google Shape;207;p37">
            <a:extLst>
              <a:ext uri="{FF2B5EF4-FFF2-40B4-BE49-F238E27FC236}">
                <a16:creationId xmlns:a16="http://schemas.microsoft.com/office/drawing/2014/main" id="{51AC9B8C-C8EF-02D7-E9E2-913D4CC092D2}"/>
              </a:ext>
            </a:extLst>
          </p:cNvPr>
          <p:cNvSpPr txBox="1"/>
          <p:nvPr/>
        </p:nvSpPr>
        <p:spPr>
          <a:xfrm>
            <a:off x="3853775" y="4382775"/>
            <a:ext cx="15408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280611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/>
              <a:t>Product Market Expansion Opportunity</a:t>
            </a:r>
            <a:endParaRPr sz="3300"/>
          </a:p>
        </p:txBody>
      </p:sp>
      <p:sp>
        <p:nvSpPr>
          <p:cNvPr id="213" name="Google Shape;213;p38"/>
          <p:cNvSpPr txBox="1"/>
          <p:nvPr/>
        </p:nvSpPr>
        <p:spPr>
          <a:xfrm rot="5400000">
            <a:off x="2936150" y="4495675"/>
            <a:ext cx="39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8"/>
          <p:cNvSpPr txBox="1"/>
          <p:nvPr/>
        </p:nvSpPr>
        <p:spPr>
          <a:xfrm>
            <a:off x="3738100" y="4130275"/>
            <a:ext cx="187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Open Sans"/>
                <a:ea typeface="Open Sans"/>
                <a:cs typeface="Open Sans"/>
                <a:sym typeface="Open Sans"/>
              </a:rPr>
              <a:t>Product and Services</a:t>
            </a:r>
            <a:endParaRPr sz="12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38"/>
          <p:cNvSpPr txBox="1"/>
          <p:nvPr/>
        </p:nvSpPr>
        <p:spPr>
          <a:xfrm rot="-5400000">
            <a:off x="215760" y="2501703"/>
            <a:ext cx="104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Open Sans"/>
                <a:ea typeface="Open Sans"/>
                <a:cs typeface="Open Sans"/>
                <a:sym typeface="Open Sans"/>
              </a:rPr>
              <a:t>Markets</a:t>
            </a:r>
            <a:endParaRPr sz="1200" b="1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16" name="Google Shape;216;p38"/>
          <p:cNvGraphicFramePr/>
          <p:nvPr>
            <p:extLst>
              <p:ext uri="{D42A27DB-BD31-4B8C-83A1-F6EECF244321}">
                <p14:modId xmlns:p14="http://schemas.microsoft.com/office/powerpoint/2010/main" val="2867442054"/>
              </p:ext>
            </p:extLst>
          </p:nvPr>
        </p:nvGraphicFramePr>
        <p:xfrm>
          <a:off x="1231750" y="1644888"/>
          <a:ext cx="6889500" cy="2312400"/>
        </p:xfrm>
        <a:graphic>
          <a:graphicData uri="http://schemas.openxmlformats.org/drawingml/2006/table">
            <a:tbl>
              <a:tblPr>
                <a:noFill/>
                <a:tableStyleId>{B4BE6B9B-D142-4D32-ABCD-EE970F495A85}</a:tableStyleId>
              </a:tblPr>
              <a:tblGrid>
                <a:gridCol w="344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5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i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Market Expansion - existing offerings, new markets</a:t>
                      </a:r>
                      <a:endParaRPr sz="1000" i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dirty="0">
                        <a:solidFill>
                          <a:srgbClr val="9E9E9E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Product: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DE" sz="900" dirty="0"/>
                        <a:t>Favorite Snack Referral Program</a:t>
                      </a:r>
                      <a:endParaRPr sz="9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Rationale: </a:t>
                      </a:r>
                      <a:r>
                        <a:rPr lang="en-DE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Encourage existing customers to introduce friends to Craft Snacks through samples and invitation links.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i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Diversification - new offerings, new markets</a:t>
                      </a:r>
                      <a:endParaRPr sz="1200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dirty="0">
                        <a:solidFill>
                          <a:srgbClr val="9E9E9E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Product: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DE" sz="900" dirty="0"/>
                        <a:t>Craft Lunch</a:t>
                      </a:r>
                      <a:endParaRPr sz="9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Rationale: </a:t>
                      </a:r>
                      <a:r>
                        <a:rPr lang="en-DE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Introduce a new food-delivery offering targeting a broader customer market</a:t>
                      </a:r>
                      <a:r>
                        <a:rPr lang="en-DE" sz="1100" dirty="0"/>
                        <a:t>.</a:t>
                      </a:r>
                      <a:endParaRPr sz="1100" i="1" dirty="0">
                        <a:solidFill>
                          <a:srgbClr val="9E9E9E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i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Market Penetration - existing offerings, existing market </a:t>
                      </a:r>
                      <a:endParaRPr sz="1000" i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i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Product: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DE" sz="900" dirty="0"/>
                        <a:t>Craft Snacks for Offices</a:t>
                      </a:r>
                      <a:endParaRPr sz="9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Rationale: </a:t>
                      </a:r>
                      <a:r>
                        <a:rPr lang="en-DE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Offer the existing snack-box concept to corporate customers and workplaces.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i="1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Product Development - new offerings, existing market</a:t>
                      </a:r>
                      <a:endParaRPr sz="1000" i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i="1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Product: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DE" sz="900" dirty="0"/>
                        <a:t>Allergy-Friendly and Vegan Snack Boxes</a:t>
                      </a:r>
                      <a:endParaRPr sz="9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Rationale: </a:t>
                      </a:r>
                      <a:r>
                        <a:rPr lang="en-DE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Expand the existing offering to customers with dietary preferences and restrictions.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7" name="Google Shape;217;p38"/>
          <p:cNvSpPr txBox="1"/>
          <p:nvPr/>
        </p:nvSpPr>
        <p:spPr>
          <a:xfrm>
            <a:off x="2177825" y="3957300"/>
            <a:ext cx="89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Existing</a:t>
            </a:r>
            <a:endParaRPr sz="1200" b="1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38"/>
          <p:cNvSpPr txBox="1"/>
          <p:nvPr/>
        </p:nvSpPr>
        <p:spPr>
          <a:xfrm>
            <a:off x="6285075" y="3957300"/>
            <a:ext cx="55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New</a:t>
            </a:r>
            <a:endParaRPr sz="1200" b="1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38"/>
          <p:cNvSpPr txBox="1"/>
          <p:nvPr/>
        </p:nvSpPr>
        <p:spPr>
          <a:xfrm rot="-5400000">
            <a:off x="607450" y="3208050"/>
            <a:ext cx="87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Existing</a:t>
            </a:r>
            <a:endParaRPr sz="1200" b="1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38"/>
          <p:cNvSpPr txBox="1"/>
          <p:nvPr/>
        </p:nvSpPr>
        <p:spPr>
          <a:xfrm rot="-5400000">
            <a:off x="769150" y="2009550"/>
            <a:ext cx="55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New</a:t>
            </a:r>
            <a:endParaRPr sz="1200" b="1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Growth Loop Expansion</a:t>
            </a:r>
            <a:endParaRPr/>
          </a:p>
        </p:txBody>
      </p:sp>
      <p:sp>
        <p:nvSpPr>
          <p:cNvPr id="4" name="Google Shape;118;p26">
            <a:extLst>
              <a:ext uri="{FF2B5EF4-FFF2-40B4-BE49-F238E27FC236}">
                <a16:creationId xmlns:a16="http://schemas.microsoft.com/office/drawing/2014/main" id="{782EB9AB-B942-9B8C-0B19-D82DE2DBCA79}"/>
              </a:ext>
            </a:extLst>
          </p:cNvPr>
          <p:cNvSpPr/>
          <p:nvPr/>
        </p:nvSpPr>
        <p:spPr>
          <a:xfrm rot="2700000">
            <a:off x="3959779" y="3213306"/>
            <a:ext cx="409415" cy="295712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9;p26">
            <a:extLst>
              <a:ext uri="{FF2B5EF4-FFF2-40B4-BE49-F238E27FC236}">
                <a16:creationId xmlns:a16="http://schemas.microsoft.com/office/drawing/2014/main" id="{E7398718-3FE7-D374-0C3E-6955E64097CF}"/>
              </a:ext>
            </a:extLst>
          </p:cNvPr>
          <p:cNvSpPr/>
          <p:nvPr/>
        </p:nvSpPr>
        <p:spPr>
          <a:xfrm rot="9235382">
            <a:off x="4065916" y="2197875"/>
            <a:ext cx="409484" cy="295443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20;p26">
            <a:extLst>
              <a:ext uri="{FF2B5EF4-FFF2-40B4-BE49-F238E27FC236}">
                <a16:creationId xmlns:a16="http://schemas.microsoft.com/office/drawing/2014/main" id="{BDFFF0D4-2CCC-37C1-CD0B-5BF5F95B1E79}"/>
              </a:ext>
            </a:extLst>
          </p:cNvPr>
          <p:cNvSpPr/>
          <p:nvPr/>
        </p:nvSpPr>
        <p:spPr>
          <a:xfrm rot="-2078683">
            <a:off x="6088700" y="3213322"/>
            <a:ext cx="409509" cy="295667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21;p26">
            <a:extLst>
              <a:ext uri="{FF2B5EF4-FFF2-40B4-BE49-F238E27FC236}">
                <a16:creationId xmlns:a16="http://schemas.microsoft.com/office/drawing/2014/main" id="{7B799D60-3437-0662-36A1-B9156926CBA5}"/>
              </a:ext>
            </a:extLst>
          </p:cNvPr>
          <p:cNvSpPr txBox="1"/>
          <p:nvPr/>
        </p:nvSpPr>
        <p:spPr>
          <a:xfrm>
            <a:off x="4462392" y="2544980"/>
            <a:ext cx="1719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Craft Snacks Growth Loop</a:t>
            </a:r>
            <a:endParaRPr sz="1800" b="1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Google Shape;123;p26">
            <a:extLst>
              <a:ext uri="{FF2B5EF4-FFF2-40B4-BE49-F238E27FC236}">
                <a16:creationId xmlns:a16="http://schemas.microsoft.com/office/drawing/2014/main" id="{40314184-22B0-CA2E-A93B-77D82D4A7AC2}"/>
              </a:ext>
            </a:extLst>
          </p:cNvPr>
          <p:cNvSpPr txBox="1"/>
          <p:nvPr/>
        </p:nvSpPr>
        <p:spPr>
          <a:xfrm>
            <a:off x="4413792" y="1304967"/>
            <a:ext cx="1817100" cy="132340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1200" dirty="0"/>
              <a:t>Users receive their monthly snack box and discover a favorite snack.</a:t>
            </a: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24;p26">
            <a:extLst>
              <a:ext uri="{FF2B5EF4-FFF2-40B4-BE49-F238E27FC236}">
                <a16:creationId xmlns:a16="http://schemas.microsoft.com/office/drawing/2014/main" id="{8E892D67-45A8-D184-1B3F-EE18A2C0A5F9}"/>
              </a:ext>
            </a:extLst>
          </p:cNvPr>
          <p:cNvSpPr txBox="1"/>
          <p:nvPr/>
        </p:nvSpPr>
        <p:spPr>
          <a:xfrm>
            <a:off x="4413792" y="3610467"/>
            <a:ext cx="1817100" cy="112335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1200" dirty="0"/>
              <a:t>Friends try the snack, discover Craft Snacks, and are encouraged to subscribe.</a:t>
            </a: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Google Shape;125;p26">
            <a:extLst>
              <a:ext uri="{FF2B5EF4-FFF2-40B4-BE49-F238E27FC236}">
                <a16:creationId xmlns:a16="http://schemas.microsoft.com/office/drawing/2014/main" id="{96B68845-BB6C-A738-23C1-3ECEB15A7B5E}"/>
              </a:ext>
            </a:extLst>
          </p:cNvPr>
          <p:cNvSpPr txBox="1"/>
          <p:nvPr/>
        </p:nvSpPr>
        <p:spPr>
          <a:xfrm>
            <a:off x="2049481" y="2495864"/>
            <a:ext cx="1817100" cy="9386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1200" dirty="0"/>
              <a:t>More new users subscribe to Craft Snacks</a:t>
            </a: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Google Shape;126;p26">
            <a:extLst>
              <a:ext uri="{FF2B5EF4-FFF2-40B4-BE49-F238E27FC236}">
                <a16:creationId xmlns:a16="http://schemas.microsoft.com/office/drawing/2014/main" id="{31966106-60D2-39D7-64D6-A70C998EFC3C}"/>
              </a:ext>
            </a:extLst>
          </p:cNvPr>
          <p:cNvSpPr txBox="1"/>
          <p:nvPr/>
        </p:nvSpPr>
        <p:spPr>
          <a:xfrm>
            <a:off x="6778092" y="2457867"/>
            <a:ext cx="1817100" cy="9386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DE" sz="1200" dirty="0"/>
              <a:t>Users send a sample of their favorite snack to a friend.</a:t>
            </a: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233;p39">
            <a:extLst>
              <a:ext uri="{FF2B5EF4-FFF2-40B4-BE49-F238E27FC236}">
                <a16:creationId xmlns:a16="http://schemas.microsoft.com/office/drawing/2014/main" id="{A5E9EE6E-9AB7-389E-EB28-0978007EB4F3}"/>
              </a:ext>
            </a:extLst>
          </p:cNvPr>
          <p:cNvSpPr/>
          <p:nvPr/>
        </p:nvSpPr>
        <p:spPr>
          <a:xfrm rot="9606401" flipH="1">
            <a:off x="2969715" y="4524389"/>
            <a:ext cx="801423" cy="29542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5" name="Google Shape;234;p39">
            <a:extLst>
              <a:ext uri="{FF2B5EF4-FFF2-40B4-BE49-F238E27FC236}">
                <a16:creationId xmlns:a16="http://schemas.microsoft.com/office/drawing/2014/main" id="{62E515F0-D948-6BCF-2491-2BFF84098BE9}"/>
              </a:ext>
            </a:extLst>
          </p:cNvPr>
          <p:cNvSpPr/>
          <p:nvPr/>
        </p:nvSpPr>
        <p:spPr>
          <a:xfrm rot="-5631038" flipH="1">
            <a:off x="282254" y="3191245"/>
            <a:ext cx="813035" cy="295265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6" name="Google Shape;235;p39">
            <a:extLst>
              <a:ext uri="{FF2B5EF4-FFF2-40B4-BE49-F238E27FC236}">
                <a16:creationId xmlns:a16="http://schemas.microsoft.com/office/drawing/2014/main" id="{048D9D9D-4302-C5EC-AFBF-0508F1E74117}"/>
              </a:ext>
            </a:extLst>
          </p:cNvPr>
          <p:cNvSpPr txBox="1"/>
          <p:nvPr/>
        </p:nvSpPr>
        <p:spPr>
          <a:xfrm>
            <a:off x="254581" y="3939984"/>
            <a:ext cx="2688784" cy="10002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DE" sz="900" dirty="0"/>
              <a:t>Users set their allergy, intolerance, and vegan preferences to receive snack boxes that better match their dietary needs.</a:t>
            </a:r>
            <a:endParaRPr sz="9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238;p39">
            <a:extLst>
              <a:ext uri="{FF2B5EF4-FFF2-40B4-BE49-F238E27FC236}">
                <a16:creationId xmlns:a16="http://schemas.microsoft.com/office/drawing/2014/main" id="{DE0FB0B6-93E5-178B-44EF-49ADF9C1875C}"/>
              </a:ext>
            </a:extLst>
          </p:cNvPr>
          <p:cNvSpPr txBox="1"/>
          <p:nvPr/>
        </p:nvSpPr>
        <p:spPr>
          <a:xfrm>
            <a:off x="300863" y="1244873"/>
            <a:ext cx="2234520" cy="113874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  <a:p>
            <a:pPr lvl="0"/>
            <a:r>
              <a:rPr lang="en-DE" sz="900" dirty="0"/>
              <a:t>Allow users to set allergy, intolerance, and vegan preferences and use these preferences to personalize the snacks included in their boxes</a:t>
            </a:r>
            <a:endParaRPr sz="9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Google Shape;239;p39">
            <a:extLst>
              <a:ext uri="{FF2B5EF4-FFF2-40B4-BE49-F238E27FC236}">
                <a16:creationId xmlns:a16="http://schemas.microsoft.com/office/drawing/2014/main" id="{06E36C20-B21F-48C2-B182-ED1D69D6A435}"/>
              </a:ext>
            </a:extLst>
          </p:cNvPr>
          <p:cNvSpPr/>
          <p:nvPr/>
        </p:nvSpPr>
        <p:spPr>
          <a:xfrm rot="2264711" flipH="1">
            <a:off x="1190681" y="2587726"/>
            <a:ext cx="813035" cy="295113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9" name="Google Shape;242;p39">
            <a:extLst>
              <a:ext uri="{FF2B5EF4-FFF2-40B4-BE49-F238E27FC236}">
                <a16:creationId xmlns:a16="http://schemas.microsoft.com/office/drawing/2014/main" id="{856D4E32-B25E-D165-993F-F068EB4D8FB1}"/>
              </a:ext>
            </a:extLst>
          </p:cNvPr>
          <p:cNvSpPr txBox="1"/>
          <p:nvPr/>
        </p:nvSpPr>
        <p:spPr>
          <a:xfrm>
            <a:off x="1137450" y="3546800"/>
            <a:ext cx="1449900" cy="3231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The expanded  loop</a:t>
            </a:r>
            <a:endParaRPr sz="900" b="1" i="1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>
            <a:spLocks noGrp="1"/>
          </p:cNvSpPr>
          <p:nvPr>
            <p:ph type="title" idx="4294967295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Growth Plan Summary and Rationale</a:t>
            </a:r>
            <a:r>
              <a:rPr lang="en"/>
              <a:t> </a:t>
            </a:r>
            <a:endParaRPr/>
          </a:p>
        </p:txBody>
      </p:sp>
      <p:sp>
        <p:nvSpPr>
          <p:cNvPr id="253" name="Google Shape;253;p41"/>
          <p:cNvSpPr txBox="1">
            <a:spLocks noGrp="1"/>
          </p:cNvSpPr>
          <p:nvPr>
            <p:ph type="body" idx="4294967295"/>
          </p:nvPr>
        </p:nvSpPr>
        <p:spPr>
          <a:xfrm>
            <a:off x="1136072" y="1142325"/>
            <a:ext cx="6801627" cy="3640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Original Growth Loop</a:t>
            </a:r>
            <a:endParaRPr dirty="0"/>
          </a:p>
          <a:p>
            <a:pPr lvl="0">
              <a:spcBef>
                <a:spcPts val="1600"/>
              </a:spcBef>
            </a:pPr>
            <a:r>
              <a:rPr lang="en" dirty="0"/>
              <a:t>Focus: </a:t>
            </a:r>
            <a:r>
              <a:rPr lang="en-DE" sz="1100" i="1" dirty="0"/>
              <a:t>Market Penetration</a:t>
            </a:r>
            <a:endParaRPr sz="1100" i="1" dirty="0"/>
          </a:p>
          <a:p>
            <a:pPr lvl="0"/>
            <a:r>
              <a:rPr lang="en" dirty="0"/>
              <a:t>Rationale: </a:t>
            </a:r>
            <a:r>
              <a:rPr lang="en-DE" sz="1100" i="1" dirty="0"/>
              <a:t>Encourages existing customers to share their favorite snacks with friends, helping potential customers experience Craft Snacks and encouraging them to subscribe.</a:t>
            </a:r>
            <a:endParaRPr sz="1100" i="1" dirty="0">
              <a:solidFill>
                <a:srgbClr val="9E9E9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100" i="1" dirty="0">
              <a:solidFill>
                <a:srgbClr val="9E9E9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 Expanded Growth Loop</a:t>
            </a:r>
            <a:endParaRPr dirty="0"/>
          </a:p>
          <a:p>
            <a:pPr lvl="0">
              <a:spcBef>
                <a:spcPts val="1600"/>
              </a:spcBef>
            </a:pPr>
            <a:r>
              <a:rPr lang="en" dirty="0"/>
              <a:t>Focus: </a:t>
            </a:r>
            <a:r>
              <a:rPr lang="en-DE" sz="1100" i="1" dirty="0"/>
              <a:t>Product Development</a:t>
            </a:r>
            <a:endParaRPr sz="1100" i="1" dirty="0"/>
          </a:p>
          <a:p>
            <a:pPr lvl="0"/>
            <a:r>
              <a:rPr lang="en" dirty="0"/>
              <a:t>Rationale: </a:t>
            </a:r>
            <a:r>
              <a:rPr lang="en-DE" sz="1100" i="1" dirty="0"/>
              <a:t>Adding allergy, intolerance, and vegan preferences improves personalization for existing customers and makes Craft Snacks relevant to a wider range of potential customers, supporting continued subscriber growth.</a:t>
            </a:r>
            <a:endParaRPr sz="1100" i="1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54" name="Google Shape;254;p41"/>
          <p:cNvSpPr txBox="1"/>
          <p:nvPr/>
        </p:nvSpPr>
        <p:spPr>
          <a:xfrm>
            <a:off x="3853775" y="4382775"/>
            <a:ext cx="154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2B3E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2144</Words>
  <Application>Microsoft Macintosh PowerPoint</Application>
  <PresentationFormat>On-screen Show (16:9)</PresentationFormat>
  <Paragraphs>271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Open Sans Light</vt:lpstr>
      <vt:lpstr>Open Sans</vt:lpstr>
      <vt:lpstr>Helvetica Neue</vt:lpstr>
      <vt:lpstr>Simple Light</vt:lpstr>
      <vt:lpstr>Crafting a Growth Loop </vt:lpstr>
      <vt:lpstr>Overview</vt:lpstr>
      <vt:lpstr>Inspecting the Landscape</vt:lpstr>
      <vt:lpstr>Business Goal &amp; Product Strategy</vt:lpstr>
      <vt:lpstr>Growth Components</vt:lpstr>
      <vt:lpstr>Growth Metrics</vt:lpstr>
      <vt:lpstr>Target Persona</vt:lpstr>
      <vt:lpstr>Mapping Out the Path to Growth</vt:lpstr>
      <vt:lpstr>Growth Problem Framing</vt:lpstr>
      <vt:lpstr>The Growth Loop</vt:lpstr>
      <vt:lpstr>The Growth Loop: Hypotheses </vt:lpstr>
      <vt:lpstr>Growth Hypotheses </vt:lpstr>
      <vt:lpstr>Validating the Path to Growth</vt:lpstr>
      <vt:lpstr>A/B Testing: Goal and Metric</vt:lpstr>
      <vt:lpstr>A/B Testing: Audience and Setup</vt:lpstr>
      <vt:lpstr>A/B Testing: Risks</vt:lpstr>
      <vt:lpstr>Analysis and Next Steps</vt:lpstr>
      <vt:lpstr>Developing the Growth Vision</vt:lpstr>
      <vt:lpstr>Growth Risks</vt:lpstr>
      <vt:lpstr>Growth Risks</vt:lpstr>
      <vt:lpstr>Product Market Expansion Opportunity</vt:lpstr>
      <vt:lpstr>Growth Loop Expansion</vt:lpstr>
      <vt:lpstr>Growth Plan Summary and Rationale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Siddharth Pachpor</cp:lastModifiedBy>
  <cp:revision>28</cp:revision>
  <dcterms:modified xsi:type="dcterms:W3CDTF">2026-09-19T12:48:55Z</dcterms:modified>
</cp:coreProperties>
</file>